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2D6C1"/>
                </a:solidFill>
                <a:latin typeface="Aptos"/>
              </a:defRPr>
            </a:pPr>
            <a:r>
              <a:t>YUVA INTERNSHIP  • 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4241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Customer Churn</a:t>
            </a:r>
            <a:br/>
            <a:r>
              <a:t>Prediction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520440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D8E3EC"/>
                </a:solidFill>
                <a:latin typeface="Aptos"/>
              </a:defRPr>
            </a:pPr>
            <a:r>
              <a:t>Four-week learning journey: preprocess → compare models → evaluate clusters → deploy an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2578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Built with Python, NumPy, Pandas, scikit-learn, Joblib, and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989320"/>
            <a:ext cx="10241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AFC3D2"/>
                </a:solidFill>
                <a:latin typeface="Aptos"/>
              </a:defRPr>
            </a:pPr>
            <a:r>
              <a:t>Synthetic teaching data only — not a real telecom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1  |  Data quality and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86968"/>
            <a:ext cx="10972800" cy="41148"/>
          </a:xfrm>
          <a:prstGeom prst="rect">
            <a:avLst/>
          </a:prstGeom>
          <a:solidFill>
            <a:srgbClr val="23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87684"/>
                </a:solidFill>
                <a:latin typeface="Aptos"/>
              </a:defRPr>
            </a:pPr>
            <a:r>
              <a:t>YUVA INTERNSHIP  •  EDUCATIONAL SYNTHETIC-DATA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8309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6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44168"/>
            <a:ext cx="30266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A7A"/>
                </a:solidFill>
                <a:latin typeface="Aptos"/>
              </a:defRPr>
            </a:pPr>
            <a:r>
              <a:t>1,800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92808"/>
            <a:ext cx="30266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31475E"/>
                </a:solidFill>
                <a:latin typeface="Aptos"/>
              </a:defRPr>
            </a:pPr>
            <a:r>
              <a:t>synthetic customer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2344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44168"/>
            <a:ext cx="30266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D17A61"/>
                </a:solidFill>
                <a:latin typeface="Aptos"/>
              </a:defRPr>
            </a:pPr>
            <a:r>
              <a:t>562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92808"/>
            <a:ext cx="30266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31475E"/>
                </a:solidFill>
                <a:latin typeface="Aptos"/>
              </a:defRPr>
            </a:pPr>
            <a:r>
              <a:t>raw missing feature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2344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344168"/>
            <a:ext cx="30266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A7A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8"/>
            <a:ext cx="30266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31475E"/>
                </a:solidFill>
                <a:latin typeface="Aptos"/>
              </a:defRPr>
            </a:pPr>
            <a:r>
              <a:t>encoded/scaled model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1475E"/>
                </a:solidFill>
                <a:latin typeface="Aptos"/>
              </a:defRPr>
            </a:pPr>
            <a:r>
              <a:t>• Audited data types, duplicate IDs, missingness, and churn-label balance.</a:t>
            </a:r>
          </a:p>
          <a:p>
            <a:pPr>
              <a:spcAft>
                <a:spcPts val="900"/>
              </a:spcAft>
              <a:defRPr sz="1600">
                <a:solidFill>
                  <a:srgbClr val="31475E"/>
                </a:solidFill>
                <a:latin typeface="Aptos"/>
              </a:defRPr>
            </a:pPr>
            <a:r>
              <a:t>• Median imputation + numeric missingness indicators; mode imputation for categories.</a:t>
            </a:r>
          </a:p>
          <a:p>
            <a:pPr>
              <a:spcAft>
                <a:spcPts val="900"/>
              </a:spcAft>
              <a:defRPr sz="1600">
                <a:solidFill>
                  <a:srgbClr val="31475E"/>
                </a:solidFill>
                <a:latin typeface="Aptos"/>
              </a:defRPr>
            </a:pPr>
            <a:r>
              <a:t>• StandardScaler for numeric values; one-hot encoding for categorical values.</a:t>
            </a:r>
          </a:p>
          <a:p>
            <a:pPr>
              <a:spcAft>
                <a:spcPts val="900"/>
              </a:spcAft>
              <a:defRPr sz="1600">
                <a:solidFill>
                  <a:srgbClr val="31475E"/>
                </a:solidFill>
                <a:latin typeface="Aptos"/>
              </a:defRPr>
            </a:pPr>
            <a:r>
              <a:t>• Mutual information ranks features; top-ten selection is exported.</a:t>
            </a:r>
          </a:p>
        </p:txBody>
      </p:sp>
      <p:pic>
        <p:nvPicPr>
          <p:cNvPr id="16" name="Picture 15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880360"/>
            <a:ext cx="5303520" cy="30552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2  |  Supervised learning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86968"/>
            <a:ext cx="10972800" cy="41148"/>
          </a:xfrm>
          <a:prstGeom prst="rect">
            <a:avLst/>
          </a:prstGeom>
          <a:solidFill>
            <a:srgbClr val="23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87684"/>
                </a:solidFill>
                <a:latin typeface="Aptos"/>
              </a:defRPr>
            </a:pPr>
            <a:r>
              <a:t>YUVA INTERNSHIP  •  EDUCATIONAL SYNTHETIC-DATA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8309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684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0.525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0.767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0.516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0.746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0.713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K-Nearest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0.374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1475E"/>
                          </a:solidFill>
                          <a:latin typeface="Aptos"/>
                        </a:defRPr>
                      </a:pPr>
                      <a:r>
                        <a:t>0.696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325880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237A7A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74519"/>
            <a:ext cx="4069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31475E"/>
                </a:solidFill>
                <a:latin typeface="Aptos"/>
              </a:defRPr>
            </a:pPr>
            <a:r>
              <a:t>Monthly charges prediction</a:t>
            </a:r>
            <a:br/>
            <a:r>
              <a:t>MAE 7.61  •  RMSE 9.68</a:t>
            </a:r>
            <a:br/>
            <a:r>
              <a:t>R² 0.817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154680"/>
            <a:ext cx="40233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31475E"/>
                </a:solidFill>
                <a:latin typeface="Aptos"/>
              </a:defRPr>
            </a:pPr>
            <a:r>
              <a:t>Key readout</a:t>
            </a:r>
            <a:br/>
            <a:r>
              <a:t>Logistic Regression led ROC-AUC; KNN had the highest accuracy but lower churn recall. Metric choice affects the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424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687684"/>
                </a:solidFill>
                <a:latin typeface="Aptos"/>
              </a:defRPr>
            </a:pPr>
            <a:r>
              <a:t>Classifiers: Logistic Regression • Decision Tree • Random Forest • K-Nearest Neighbors   |   80/20 stratified test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3  |  Clustering and model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86968"/>
            <a:ext cx="10972800" cy="41148"/>
          </a:xfrm>
          <a:prstGeom prst="rect">
            <a:avLst/>
          </a:prstGeom>
          <a:solidFill>
            <a:srgbClr val="23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87684"/>
                </a:solidFill>
                <a:latin typeface="Aptos"/>
              </a:defRPr>
            </a:pPr>
            <a:r>
              <a:t>YUVA INTERNSHIP  •  EDUCATIONAL SYNTHETIC-DATA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8309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6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44168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A7A"/>
                </a:solidFill>
                <a:latin typeface="Aptos"/>
              </a:defRPr>
            </a:pPr>
            <a:r>
              <a:t>0.355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92808"/>
            <a:ext cx="29352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31475E"/>
                </a:solidFill>
                <a:latin typeface="Aptos"/>
              </a:defRPr>
            </a:pPr>
            <a:r>
              <a:t>best silhouette • Agglomerative k=4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3444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344168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A7A"/>
                </a:solidFill>
                <a:latin typeface="Aptos"/>
              </a:defRPr>
            </a:pPr>
            <a:r>
              <a:t>0.802 ± 0.022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892808"/>
            <a:ext cx="29352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31475E"/>
                </a:solidFill>
                <a:latin typeface="Aptos"/>
              </a:defRPr>
            </a:pPr>
            <a:r>
              <a:t>5-fold CV ROC-AUC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123444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1344168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A7A"/>
                </a:solidFill>
                <a:latin typeface="Aptos"/>
              </a:defRPr>
            </a:pPr>
            <a:r>
              <a:t>0.766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1892808"/>
            <a:ext cx="29352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31475E"/>
                </a:solidFill>
                <a:latin typeface="Aptos"/>
              </a:defRPr>
            </a:pPr>
            <a:r>
              <a:t>held-out ROC-AUC</a:t>
            </a:r>
          </a:p>
        </p:txBody>
      </p:sp>
      <p:pic>
        <p:nvPicPr>
          <p:cNvPr id="15" name="Picture 14" descr="pca_cluste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4572000" cy="33866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2907792"/>
            <a:ext cx="4892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K-Means and Agglomerative clustering tested k=2–6; churn was excluded from clustering.</a:t>
            </a:r>
          </a:p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Tuned Logistic Regression C=0.1 using stratified 5-fold CV.</a:t>
            </a:r>
          </a:p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Test precision 0.429 • recall 0.656 • F1 0.519.</a:t>
            </a:r>
          </a:p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Four-cluster solution is highly imbalanced; silhouette is not proof of natural segments.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4  |  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86968"/>
            <a:ext cx="10972800" cy="41148"/>
          </a:xfrm>
          <a:prstGeom prst="rect">
            <a:avLst/>
          </a:prstGeom>
          <a:solidFill>
            <a:srgbClr val="23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87684"/>
                </a:solidFill>
                <a:latin typeface="Aptos"/>
              </a:defRPr>
            </a:pPr>
            <a:r>
              <a:t>YUVA INTERNSHIP  •  EDUCATIONAL SYNTHETIC-DATA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8309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6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Raw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2303" y="1664208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087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664208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FastAPI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1664208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5087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664208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Joblib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664208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5087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1664208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1664208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A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5087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664208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Label + probability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237A7A"/>
                </a:solidFill>
                <a:latin typeface="Aptos"/>
              </a:defRPr>
            </a:pPr>
            <a:r>
              <a:t>Local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5486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31475E"/>
                </a:solidFill>
                <a:latin typeface="Aptos"/>
              </a:defRPr>
            </a:pPr>
            <a:r>
              <a:t>uvicorn yuva_ml.api:app --app-dir src --host 0.0.0.0 --port 8000</a:t>
            </a:r>
            <a:br/>
            <a:br/>
            <a:r>
              <a:t>GET /health  •  POST /predict  •  GET 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7180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237A7A"/>
                </a:solidFill>
                <a:latin typeface="Aptos"/>
              </a:defRPr>
            </a:pPr>
            <a:r>
              <a:t>Built-in safeguards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Missing fields imputed; unseen categories tolerated.</a:t>
            </a:r>
          </a:p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Batches limited to 100 rows; empty batches rejected.</a:t>
            </a:r>
          </a:p>
          <a:p>
            <a:pPr>
              <a:spcAft>
                <a:spcPts val="900"/>
              </a:spcAft>
              <a:defRPr sz="1500">
                <a:solidFill>
                  <a:srgbClr val="31475E"/>
                </a:solidFill>
                <a:latin typeface="Aptos"/>
              </a:defRPr>
            </a:pPr>
            <a:r>
              <a:t>• Preprocessing travels with the serialized estimator.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A2523E"/>
                </a:solidFill>
                <a:latin typeface="Aptos"/>
              </a:defRPr>
            </a:pPr>
            <a:r>
              <a:t>Local educational API only — no cloud hosting, authentication, or real-customer validation is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Aptos"/>
              </a:defRPr>
            </a:pPr>
            <a:r>
              <a:t>5  |  Takeaways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86968"/>
            <a:ext cx="10972800" cy="41148"/>
          </a:xfrm>
          <a:prstGeom prst="rect">
            <a:avLst/>
          </a:prstGeom>
          <a:solidFill>
            <a:srgbClr val="23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87684"/>
                </a:solidFill>
                <a:latin typeface="Aptos"/>
              </a:defRPr>
            </a:pPr>
            <a:r>
              <a:t>YUVA INTERNSHIP  •  EDUCATIONAL SYNTHETIC-DATA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83096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6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1475E"/>
                </a:solidFill>
                <a:latin typeface="Aptos"/>
              </a:defRPr>
            </a:pPr>
            <a:r>
              <a:t>• A reproducible preprocessing pipeline prevents common data-quality and leakage errors.</a:t>
            </a:r>
          </a:p>
          <a:p>
            <a:pPr>
              <a:spcAft>
                <a:spcPts val="900"/>
              </a:spcAft>
              <a:defRPr sz="1900">
                <a:solidFill>
                  <a:srgbClr val="31475E"/>
                </a:solidFill>
                <a:latin typeface="Aptos"/>
              </a:defRPr>
            </a:pPr>
            <a:r>
              <a:t>• Multiple metrics expose trade-offs that a single accuracy score can hide.</a:t>
            </a:r>
          </a:p>
          <a:p>
            <a:pPr>
              <a:spcAft>
                <a:spcPts val="900"/>
              </a:spcAft>
              <a:defRPr sz="1900">
                <a:solidFill>
                  <a:srgbClr val="31475E"/>
                </a:solidFill>
                <a:latin typeface="Aptos"/>
              </a:defRPr>
            </a:pPr>
            <a:r>
              <a:t>• Unsupervised clusters need balance, stability, and domain validation—not only a score.</a:t>
            </a:r>
          </a:p>
          <a:p>
            <a:pPr>
              <a:spcAft>
                <a:spcPts val="900"/>
              </a:spcAft>
              <a:defRPr sz="1900">
                <a:solidFill>
                  <a:srgbClr val="31475E"/>
                </a:solidFill>
                <a:latin typeface="Aptos"/>
              </a:defRPr>
            </a:pPr>
            <a:r>
              <a:t>• A saved end-to-end pipeline makes inference consistent between training and the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237A7A"/>
                </a:solidFill>
                <a:latin typeface="Aptos"/>
              </a:defRPr>
            </a:pPr>
            <a:r>
              <a:t>Next: validate on representative consented data, review costs and fairness, secure the API, and monitor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