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final week of the internship: the deployment week. Over the last three weeks I built a churn model and compared algorithms. This week is about the gap between that model and something another team could actually call, version and trust. I will keep it to about ten minutes and leave time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framing I want to establish: the hard part of deployment is not the code. It is the five things a notebook does not have — an interface, a contract, a version, a measured cost and documented limits. Everything in this deck is one of those five.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objectives, three deliverables. The important thing is that this is not a mock up: the service in this deck is the one in the repository, and every number was produced by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could have deployed the Random Forest. I did not, and the reason is on the next slide but one: the linear model gives an exact decomposition of every prediction. The gap between them was inside the noise band, so explainability was free.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left to right. Validation happens before any model code runs, which is the single most valuable design decision in the whole service. The model is loaded once at startup — you can see the artifact box at the bottom. Nothing is re-fitted per request.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health endpoint is worth a sentence. The usual implementation returns 200 as long as the process is alive, which means a container with no model still passes its readiness probe. This one checks the model object.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customer is at 71% risk. The contract type alone is worth +0.96 log-odds; DSL and having a partner pull the other way. If you add those numbers, apply the logistic function, you get exactly the probability the API returned. That is the difference between an explanation and a plausible-looking chart.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changed how I thought about the project. I assumed the model was the expensive part. It is not: the explanation costs more than the prediction it explains. That is why the API has an explain_result flag.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finding I am most pleased with, because it was invisible to every test. The batch endpoint looped over rows, so it was paying the fixed cost of a pandas frame and a transformer call a hundred times per request. All eighteen tests passed. The benchmark took it from 92 rows per second to nearly eleven thousand.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careful not to oversell this. Accuracy is 0.678, which is below the do-nothing baseline of 0.733. That is expected — balanced class weights trade accuracy for recall deliberately. The two errors are not symmetric: a false alarm costs one offer, a missed churner costs the whole customer.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returns a probability. Turning it into a decision is a separate act, and the right threshold depends on what a missed churner costs relative to a wasted offer. That is not something I can know from the data, so the API exposes it as a parameter and returns it in the response for auditability.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common production failure is not a bad prediction, it is a request in a shape the model never saw. Every 422 here is an exception that never reached scikit-learn. Note the last row: an omitted total_charges is accepted, because a new customer genuinely has none.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Deploying a model makes its limitations consequential, because people act on the output. The model card lists these, and I would rather say them out loud than have someone discover them later.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the deployment works, it is measured, and it is honest about what it is. The three things I would add before real use are monitoring, a fairness audit, and authentication.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417320"/>
            <a:ext cx="1280160" cy="54864"/>
          </a:xfrm>
          <a:prstGeom prst="rect">
            <a:avLst/>
          </a:prstGeom>
          <a:solidFill>
            <a:srgbClr val="23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77240"/>
            <a:ext cx="10058400" cy="365760"/>
          </a:xfrm>
          <a:prstGeom prst="rect">
            <a:avLst/>
          </a:prstGeom>
          <a:noFill/>
        </p:spPr>
        <p:txBody>
          <a:bodyPr wrap="square">
            <a:spAutoFit/>
          </a:bodyPr>
          <a:lstStyle/>
          <a:p>
            <a:pPr algn="l">
              <a:lnSpc>
                <a:spcPct val="115000"/>
              </a:lnSpc>
            </a:pPr>
            <a:r>
              <a:rPr sz="1300" b="1" i="0">
                <a:solidFill>
                  <a:srgbClr val="7FC4C4"/>
                </a:solidFill>
                <a:latin typeface="Calibri"/>
              </a:rPr>
              <a:t>YUVA INTERNSHIP PROGRAMME   ·   WEEK 4 CAPSTONE</a:t>
            </a:r>
          </a:p>
        </p:txBody>
      </p:sp>
      <p:sp>
        <p:nvSpPr>
          <p:cNvPr id="5" name="TextBox 4"/>
          <p:cNvSpPr txBox="1"/>
          <p:nvPr/>
        </p:nvSpPr>
        <p:spPr>
          <a:xfrm>
            <a:off x="822960" y="1783080"/>
            <a:ext cx="10424160" cy="2011680"/>
          </a:xfrm>
          <a:prstGeom prst="rect">
            <a:avLst/>
          </a:prstGeom>
          <a:noFill/>
        </p:spPr>
        <p:txBody>
          <a:bodyPr wrap="square">
            <a:spAutoFit/>
          </a:bodyPr>
          <a:lstStyle/>
          <a:p>
            <a:pPr algn="l">
              <a:lnSpc>
                <a:spcPct val="115000"/>
              </a:lnSpc>
            </a:pPr>
            <a:r>
              <a:rPr sz="5200" b="1" i="0">
                <a:solidFill>
                  <a:srgbClr val="FFFFFF"/>
                </a:solidFill>
                <a:latin typeface="Calibri"/>
              </a:rPr>
              <a:t>Customer Churn Prediction</a:t>
            </a:r>
          </a:p>
        </p:txBody>
      </p:sp>
      <p:sp>
        <p:nvSpPr>
          <p:cNvPr id="6" name="TextBox 5"/>
          <p:cNvSpPr txBox="1"/>
          <p:nvPr/>
        </p:nvSpPr>
        <p:spPr>
          <a:xfrm>
            <a:off x="822960" y="2880360"/>
            <a:ext cx="10424160" cy="1280160"/>
          </a:xfrm>
          <a:prstGeom prst="rect">
            <a:avLst/>
          </a:prstGeom>
          <a:noFill/>
        </p:spPr>
        <p:txBody>
          <a:bodyPr wrap="square">
            <a:spAutoFit/>
          </a:bodyPr>
          <a:lstStyle/>
          <a:p>
            <a:pPr algn="l">
              <a:lnSpc>
                <a:spcPct val="115000"/>
              </a:lnSpc>
            </a:pPr>
            <a:r>
              <a:rPr sz="3200" b="0" i="1">
                <a:solidFill>
                  <a:srgbClr val="BFD3E0"/>
                </a:solidFill>
                <a:latin typeface="Calibri"/>
              </a:rPr>
              <a:t>from a notebook to a service</a:t>
            </a:r>
          </a:p>
        </p:txBody>
      </p:sp>
      <p:sp>
        <p:nvSpPr>
          <p:cNvPr id="7" name="TextBox 6"/>
          <p:cNvSpPr txBox="1"/>
          <p:nvPr/>
        </p:nvSpPr>
        <p:spPr>
          <a:xfrm>
            <a:off x="822960" y="4343400"/>
            <a:ext cx="9875520" cy="914400"/>
          </a:xfrm>
          <a:prstGeom prst="rect">
            <a:avLst/>
          </a:prstGeom>
          <a:noFill/>
        </p:spPr>
        <p:txBody>
          <a:bodyPr wrap="square">
            <a:spAutoFit/>
          </a:bodyPr>
          <a:lstStyle/>
          <a:p>
            <a:pPr algn="l">
              <a:lnSpc>
                <a:spcPct val="115000"/>
              </a:lnSpc>
            </a:pPr>
            <a:r>
              <a:rPr sz="1700" b="0" i="0">
                <a:solidFill>
                  <a:srgbClr val="A8BCCB"/>
                </a:solidFill>
                <a:latin typeface="Calibri"/>
              </a:rPr>
              <a:t>Serialising a scikit-learn pipeline, serving it with FastAPI,
and measuring what it actually costs.</a:t>
            </a:r>
          </a:p>
        </p:txBody>
      </p:sp>
      <p:sp>
        <p:nvSpPr>
          <p:cNvPr id="8" name="TextBox 7"/>
          <p:cNvSpPr txBox="1"/>
          <p:nvPr/>
        </p:nvSpPr>
        <p:spPr>
          <a:xfrm>
            <a:off x="822960" y="5806440"/>
            <a:ext cx="7315200" cy="365760"/>
          </a:xfrm>
          <a:prstGeom prst="rect">
            <a:avLst/>
          </a:prstGeom>
          <a:noFill/>
        </p:spPr>
        <p:txBody>
          <a:bodyPr wrap="square">
            <a:spAutoFit/>
          </a:bodyPr>
          <a:lstStyle/>
          <a:p>
            <a:pPr algn="l">
              <a:lnSpc>
                <a:spcPct val="115000"/>
              </a:lnSpc>
            </a:pPr>
            <a:r>
              <a:rPr sz="1300" b="1" i="0">
                <a:solidFill>
                  <a:srgbClr val="FFFFFF"/>
                </a:solidFill>
                <a:latin typeface="Calibri"/>
              </a:rPr>
              <a:t>Peram Dhanam Srinivas</a:t>
            </a:r>
          </a:p>
        </p:txBody>
      </p:sp>
      <p:sp>
        <p:nvSpPr>
          <p:cNvPr id="9" name="TextBox 8"/>
          <p:cNvSpPr txBox="1"/>
          <p:nvPr/>
        </p:nvSpPr>
        <p:spPr>
          <a:xfrm>
            <a:off x="822960" y="6126480"/>
            <a:ext cx="7315200" cy="365760"/>
          </a:xfrm>
          <a:prstGeom prst="rect">
            <a:avLst/>
          </a:prstGeom>
          <a:noFill/>
        </p:spPr>
        <p:txBody>
          <a:bodyPr wrap="square">
            <a:spAutoFit/>
          </a:bodyPr>
          <a:lstStyle/>
          <a:p>
            <a:pPr algn="l">
              <a:lnSpc>
                <a:spcPct val="115000"/>
              </a:lnSpc>
            </a:pPr>
            <a:r>
              <a:rPr sz="1100" b="0" i="0">
                <a:solidFill>
                  <a:srgbClr val="A8BCCB"/>
                </a:solidFill>
                <a:latin typeface="Calibri"/>
              </a:rP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23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84048"/>
            <a:ext cx="10607040" cy="274320"/>
          </a:xfrm>
          <a:prstGeom prst="rect">
            <a:avLst/>
          </a:prstGeom>
          <a:noFill/>
        </p:spPr>
        <p:txBody>
          <a:bodyPr wrap="square">
            <a:spAutoFit/>
          </a:bodyPr>
          <a:lstStyle/>
          <a:p>
            <a:pPr algn="l">
              <a:lnSpc>
                <a:spcPct val="115000"/>
              </a:lnSpc>
            </a:pPr>
            <a:r>
              <a:rPr sz="1100" b="1" i="0">
                <a:solidFill>
                  <a:srgbClr val="237A7A"/>
                </a:solidFill>
                <a:latin typeface="Calibri"/>
              </a:rPr>
              <a:t>THE STARTING POINT</a:t>
            </a:r>
          </a:p>
        </p:txBody>
      </p:sp>
      <p:sp>
        <p:nvSpPr>
          <p:cNvPr id="4" name="TextBox 3"/>
          <p:cNvSpPr txBox="1"/>
          <p:nvPr/>
        </p:nvSpPr>
        <p:spPr>
          <a:xfrm>
            <a:off x="777240" y="658368"/>
            <a:ext cx="10607040" cy="822960"/>
          </a:xfrm>
          <a:prstGeom prst="rect">
            <a:avLst/>
          </a:prstGeom>
          <a:noFill/>
        </p:spPr>
        <p:txBody>
          <a:bodyPr wrap="square">
            <a:spAutoFit/>
          </a:bodyPr>
          <a:lstStyle/>
          <a:p>
            <a:pPr algn="l">
              <a:lnSpc>
                <a:spcPct val="115000"/>
              </a:lnSpc>
            </a:pPr>
            <a:r>
              <a:rPr sz="3000" b="1" i="0">
                <a:solidFill>
                  <a:srgbClr val="17324D"/>
                </a:solidFill>
                <a:latin typeface="Calibri"/>
              </a:rPr>
              <a:t>A model in a notebook is not a product</a:t>
            </a:r>
          </a:p>
        </p:txBody>
      </p:sp>
      <p:sp>
        <p:nvSpPr>
          <p:cNvPr id="5" name="Rectangle 4"/>
          <p:cNvSpPr/>
          <p:nvPr/>
        </p:nvSpPr>
        <p:spPr>
          <a:xfrm>
            <a:off x="795528" y="1481328"/>
            <a:ext cx="1005840" cy="41148"/>
          </a:xfrm>
          <a:prstGeom prst="rect">
            <a:avLst/>
          </a:prstGeom>
          <a:solidFill>
            <a:srgbClr val="C46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19088"/>
            <a:ext cx="10607040" cy="274320"/>
          </a:xfrm>
          <a:prstGeom prst="rect">
            <a:avLst/>
          </a:prstGeom>
          <a:noFill/>
        </p:spPr>
        <p:txBody>
          <a:bodyPr wrap="none">
            <a:spAutoFit/>
          </a:bodyPr>
          <a:lstStyle/>
          <a:p>
            <a:r>
              <a:rPr sz="900">
                <a:solidFill>
                  <a:srgbClr val="5C6F82"/>
                </a:solidFill>
              </a:rPr>
              <a:t>Peram Dhanam Srinivas   ·   Week 4 Capstone   ·   AI Project Deployment</a:t>
            </a:r>
          </a:p>
        </p:txBody>
      </p:sp>
      <p:sp>
        <p:nvSpPr>
          <p:cNvPr id="7" name="TextBox 6"/>
          <p:cNvSpPr txBox="1"/>
          <p:nvPr/>
        </p:nvSpPr>
        <p:spPr>
          <a:xfrm>
            <a:off x="777240" y="1783080"/>
            <a:ext cx="6400800" cy="4206240"/>
          </a:xfrm>
          <a:prstGeom prst="rect">
            <a:avLst/>
          </a:prstGeom>
          <a:noFill/>
        </p:spPr>
        <p:txBody>
          <a:bodyPr wrap="square">
            <a:spAutoFit/>
          </a:bodyPr>
          <a:lstStyle/>
          <a:p>
            <a:pPr>
              <a:lnSpc>
                <a:spcPct val="112000"/>
              </a:lnSpc>
              <a:spcAft>
                <a:spcPts val="1200"/>
              </a:spcAft>
            </a:pPr>
            <a:r>
              <a:rPr sz="1600" b="1">
                <a:solidFill>
                  <a:srgbClr val="237A7A"/>
                </a:solidFill>
                <a:latin typeface="Calibri"/>
              </a:rPr>
              <a:t>No interface.  </a:t>
            </a:r>
            <a:r>
              <a:rPr sz="1600">
                <a:solidFill>
                  <a:srgbClr val="17324D"/>
                </a:solidFill>
                <a:latin typeface="Calibri"/>
              </a:rPr>
              <a:t>Nobody can call it without opening the notebook.</a:t>
            </a:r>
          </a:p>
          <a:p>
            <a:pPr>
              <a:lnSpc>
                <a:spcPct val="112000"/>
              </a:lnSpc>
              <a:spcAft>
                <a:spcPts val="1200"/>
              </a:spcAft>
            </a:pPr>
            <a:r>
              <a:rPr sz="1600" b="1">
                <a:solidFill>
                  <a:srgbClr val="237A7A"/>
                </a:solidFill>
                <a:latin typeface="Calibri"/>
              </a:rPr>
              <a:t>No contract.  </a:t>
            </a:r>
            <a:r>
              <a:rPr sz="1600">
                <a:solidFill>
                  <a:srgbClr val="17324D"/>
                </a:solidFill>
                <a:latin typeface="Calibri"/>
              </a:rPr>
              <a:t>Nothing validates what comes in; a typo becomes a silent imputation.</a:t>
            </a:r>
          </a:p>
          <a:p>
            <a:pPr>
              <a:lnSpc>
                <a:spcPct val="112000"/>
              </a:lnSpc>
              <a:spcAft>
                <a:spcPts val="1200"/>
              </a:spcAft>
            </a:pPr>
            <a:r>
              <a:rPr sz="1600" b="1">
                <a:solidFill>
                  <a:srgbClr val="237A7A"/>
                </a:solidFill>
                <a:latin typeface="Calibri"/>
              </a:rPr>
              <a:t>No version.  </a:t>
            </a:r>
            <a:r>
              <a:rPr sz="1600">
                <a:solidFill>
                  <a:srgbClr val="17324D"/>
                </a:solidFill>
                <a:latin typeface="Calibri"/>
              </a:rPr>
              <a:t>Which coefficients are running in production?</a:t>
            </a:r>
          </a:p>
          <a:p>
            <a:pPr>
              <a:lnSpc>
                <a:spcPct val="112000"/>
              </a:lnSpc>
              <a:spcAft>
                <a:spcPts val="1200"/>
              </a:spcAft>
            </a:pPr>
            <a:r>
              <a:rPr sz="1600" b="1">
                <a:solidFill>
                  <a:srgbClr val="237A7A"/>
                </a:solidFill>
                <a:latin typeface="Calibri"/>
              </a:rPr>
              <a:t>No measured cost.  </a:t>
            </a:r>
            <a:r>
              <a:rPr sz="1600">
                <a:solidFill>
                  <a:srgbClr val="17324D"/>
                </a:solidFill>
                <a:latin typeface="Calibri"/>
              </a:rPr>
              <a:t>12 ms or 12 seconds? Nobody knows until someone asks.</a:t>
            </a:r>
          </a:p>
          <a:p>
            <a:pPr>
              <a:lnSpc>
                <a:spcPct val="112000"/>
              </a:lnSpc>
              <a:spcAft>
                <a:spcPts val="1200"/>
              </a:spcAft>
            </a:pPr>
            <a:r>
              <a:rPr sz="1600" b="1">
                <a:solidFill>
                  <a:srgbClr val="237A7A"/>
                </a:solidFill>
                <a:latin typeface="Calibri"/>
              </a:rPr>
              <a:t>No limits.  </a:t>
            </a:r>
            <a:r>
              <a:rPr sz="1600">
                <a:solidFill>
                  <a:srgbClr val="17324D"/>
                </a:solidFill>
                <a:latin typeface="Calibri"/>
              </a:rPr>
              <a:t>Nothing records what the model must not be used for.</a:t>
            </a:r>
          </a:p>
        </p:txBody>
      </p:sp>
      <p:sp>
        <p:nvSpPr>
          <p:cNvPr id="8" name="Rounded Rectangle 7"/>
          <p:cNvSpPr/>
          <p:nvPr/>
        </p:nvSpPr>
        <p:spPr>
          <a:xfrm>
            <a:off x="7635240" y="1920240"/>
            <a:ext cx="3749039" cy="3200400"/>
          </a:xfrm>
          <a:prstGeom prst="roundRect">
            <a:avLst/>
          </a:prstGeom>
          <a:solidFill>
            <a:srgbClr val="F1F5F9"/>
          </a:solidFill>
          <a:ln>
            <a:solidFill>
              <a:srgbClr val="D3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09560" y="2194560"/>
            <a:ext cx="3200400" cy="457200"/>
          </a:xfrm>
          <a:prstGeom prst="rect">
            <a:avLst/>
          </a:prstGeom>
          <a:noFill/>
        </p:spPr>
        <p:txBody>
          <a:bodyPr wrap="square">
            <a:spAutoFit/>
          </a:bodyPr>
          <a:lstStyle/>
          <a:p>
            <a:pPr algn="l">
              <a:lnSpc>
                <a:spcPct val="115000"/>
              </a:lnSpc>
            </a:pPr>
            <a:r>
              <a:rPr sz="1200" b="1" i="0">
                <a:solidFill>
                  <a:srgbClr val="237A7A"/>
                </a:solidFill>
                <a:latin typeface="Calibri"/>
              </a:rPr>
              <a:t>The deliverable</a:t>
            </a:r>
          </a:p>
        </p:txBody>
      </p:sp>
      <p:sp>
        <p:nvSpPr>
          <p:cNvPr id="10" name="TextBox 9"/>
          <p:cNvSpPr txBox="1"/>
          <p:nvPr/>
        </p:nvSpPr>
        <p:spPr>
          <a:xfrm>
            <a:off x="7909560" y="2606040"/>
            <a:ext cx="3200400" cy="2286000"/>
          </a:xfrm>
          <a:prstGeom prst="rect">
            <a:avLst/>
          </a:prstGeom>
          <a:noFill/>
        </p:spPr>
        <p:txBody>
          <a:bodyPr wrap="square">
            <a:spAutoFit/>
          </a:bodyPr>
          <a:lstStyle/>
          <a:p>
            <a:pPr algn="l">
              <a:lnSpc>
                <a:spcPct val="115000"/>
              </a:lnSpc>
            </a:pPr>
            <a:r>
              <a:rPr sz="1500" b="0" i="0">
                <a:solidFill>
                  <a:srgbClr val="17324D"/>
                </a:solidFill>
                <a:latin typeface="Calibri"/>
              </a:rPr>
              <a:t>A FastAPI service, a serialised pipeline, a model card, 18 tests and a measured latency budget.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23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84048"/>
            <a:ext cx="10607040" cy="274320"/>
          </a:xfrm>
          <a:prstGeom prst="rect">
            <a:avLst/>
          </a:prstGeom>
          <a:noFill/>
        </p:spPr>
        <p:txBody>
          <a:bodyPr wrap="square">
            <a:spAutoFit/>
          </a:bodyPr>
          <a:lstStyle/>
          <a:p>
            <a:pPr algn="l">
              <a:lnSpc>
                <a:spcPct val="115000"/>
              </a:lnSpc>
            </a:pPr>
            <a:r>
              <a:rPr sz="1100" b="1" i="0">
                <a:solidFill>
                  <a:srgbClr val="237A7A"/>
                </a:solidFill>
                <a:latin typeface="Calibri"/>
              </a:rPr>
              <a:t>SCOPE</a:t>
            </a:r>
          </a:p>
        </p:txBody>
      </p:sp>
      <p:sp>
        <p:nvSpPr>
          <p:cNvPr id="4" name="TextBox 3"/>
          <p:cNvSpPr txBox="1"/>
          <p:nvPr/>
        </p:nvSpPr>
        <p:spPr>
          <a:xfrm>
            <a:off x="777240" y="658368"/>
            <a:ext cx="10607040" cy="822960"/>
          </a:xfrm>
          <a:prstGeom prst="rect">
            <a:avLst/>
          </a:prstGeom>
          <a:noFill/>
        </p:spPr>
        <p:txBody>
          <a:bodyPr wrap="square">
            <a:spAutoFit/>
          </a:bodyPr>
          <a:lstStyle/>
          <a:p>
            <a:pPr algn="l">
              <a:lnSpc>
                <a:spcPct val="115000"/>
              </a:lnSpc>
            </a:pPr>
            <a:r>
              <a:rPr sz="3000" b="1" i="0">
                <a:solidFill>
                  <a:srgbClr val="17324D"/>
                </a:solidFill>
                <a:latin typeface="Calibri"/>
              </a:rPr>
              <a:t>What the brief asked for, and what exists</a:t>
            </a:r>
          </a:p>
        </p:txBody>
      </p:sp>
      <p:sp>
        <p:nvSpPr>
          <p:cNvPr id="5" name="Rectangle 4"/>
          <p:cNvSpPr/>
          <p:nvPr/>
        </p:nvSpPr>
        <p:spPr>
          <a:xfrm>
            <a:off x="795528" y="1481328"/>
            <a:ext cx="1005840" cy="41148"/>
          </a:xfrm>
          <a:prstGeom prst="rect">
            <a:avLst/>
          </a:prstGeom>
          <a:solidFill>
            <a:srgbClr val="C46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19088"/>
            <a:ext cx="10607040" cy="274320"/>
          </a:xfrm>
          <a:prstGeom prst="rect">
            <a:avLst/>
          </a:prstGeom>
          <a:noFill/>
        </p:spPr>
        <p:txBody>
          <a:bodyPr wrap="none">
            <a:spAutoFit/>
          </a:bodyPr>
          <a:lstStyle/>
          <a:p>
            <a:r>
              <a:rPr sz="900">
                <a:solidFill>
                  <a:srgbClr val="5C6F82"/>
                </a:solidFill>
              </a:rPr>
              <a:t>Peram Dhanam Srinivas   ·   Week 4 Capstone   ·   AI Project Deployment</a:t>
            </a:r>
          </a:p>
        </p:txBody>
      </p:sp>
      <p:sp>
        <p:nvSpPr>
          <p:cNvPr id="7" name="Rounded Rectangle 6"/>
          <p:cNvSpPr/>
          <p:nvPr/>
        </p:nvSpPr>
        <p:spPr>
          <a:xfrm>
            <a:off x="777240" y="1874519"/>
            <a:ext cx="10515600" cy="1143000"/>
          </a:xfrm>
          <a:prstGeom prst="roundRect">
            <a:avLst/>
          </a:prstGeom>
          <a:solidFill>
            <a:srgbClr val="F1F5F9"/>
          </a:solidFill>
          <a:ln>
            <a:solidFill>
              <a:srgbClr val="D3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176271"/>
            <a:ext cx="548640" cy="548640"/>
          </a:xfrm>
          <a:prstGeom prst="rect">
            <a:avLst/>
          </a:prstGeom>
          <a:noFill/>
        </p:spPr>
        <p:txBody>
          <a:bodyPr wrap="square">
            <a:spAutoFit/>
          </a:bodyPr>
          <a:lstStyle/>
          <a:p>
            <a:pPr algn="l">
              <a:lnSpc>
                <a:spcPct val="115000"/>
              </a:lnSpc>
            </a:pPr>
            <a:r>
              <a:rPr sz="2600" b="1" i="0">
                <a:solidFill>
                  <a:srgbClr val="237A7A"/>
                </a:solidFill>
                <a:latin typeface="Calibri"/>
              </a:rPr>
              <a:t>1</a:t>
            </a:r>
          </a:p>
        </p:txBody>
      </p:sp>
      <p:sp>
        <p:nvSpPr>
          <p:cNvPr id="9" name="TextBox 8"/>
          <p:cNvSpPr txBox="1"/>
          <p:nvPr/>
        </p:nvSpPr>
        <p:spPr>
          <a:xfrm>
            <a:off x="1691640" y="2075687"/>
            <a:ext cx="6035040" cy="365760"/>
          </a:xfrm>
          <a:prstGeom prst="rect">
            <a:avLst/>
          </a:prstGeom>
          <a:noFill/>
        </p:spPr>
        <p:txBody>
          <a:bodyPr wrap="square">
            <a:spAutoFit/>
          </a:bodyPr>
          <a:lstStyle/>
          <a:p>
            <a:pPr algn="l">
              <a:lnSpc>
                <a:spcPct val="115000"/>
              </a:lnSpc>
            </a:pPr>
            <a:r>
              <a:rPr sz="1600" b="1" i="0">
                <a:solidFill>
                  <a:srgbClr val="17324D"/>
                </a:solidFill>
                <a:latin typeface="Calibri"/>
              </a:rPr>
              <a:t>End-to-end project with FastAPI</a:t>
            </a:r>
          </a:p>
        </p:txBody>
      </p:sp>
      <p:sp>
        <p:nvSpPr>
          <p:cNvPr id="10" name="TextBox 9"/>
          <p:cNvSpPr txBox="1"/>
          <p:nvPr/>
        </p:nvSpPr>
        <p:spPr>
          <a:xfrm>
            <a:off x="1691640" y="2496311"/>
            <a:ext cx="8961120" cy="365760"/>
          </a:xfrm>
          <a:prstGeom prst="rect">
            <a:avLst/>
          </a:prstGeom>
          <a:noFill/>
        </p:spPr>
        <p:txBody>
          <a:bodyPr wrap="square">
            <a:spAutoFit/>
          </a:bodyPr>
          <a:lstStyle/>
          <a:p>
            <a:pPr algn="l">
              <a:lnSpc>
                <a:spcPct val="115000"/>
              </a:lnSpc>
            </a:pPr>
            <a:r>
              <a:rPr sz="1250" b="0" i="0">
                <a:solidFill>
                  <a:srgbClr val="5C6F82"/>
                </a:solidFill>
                <a:latin typeface="Calibri"/>
              </a:rPr>
              <a:t>train → serialise → serve → test</a:t>
            </a:r>
          </a:p>
        </p:txBody>
      </p:sp>
      <p:sp>
        <p:nvSpPr>
          <p:cNvPr id="11" name="Rounded Rectangle 10"/>
          <p:cNvSpPr/>
          <p:nvPr/>
        </p:nvSpPr>
        <p:spPr>
          <a:xfrm>
            <a:off x="777240" y="3246119"/>
            <a:ext cx="10515600" cy="1143000"/>
          </a:xfrm>
          <a:prstGeom prst="roundRect">
            <a:avLst/>
          </a:prstGeom>
          <a:solidFill>
            <a:srgbClr val="F1F5F9"/>
          </a:solidFill>
          <a:ln>
            <a:solidFill>
              <a:srgbClr val="D3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547871"/>
            <a:ext cx="548640" cy="548640"/>
          </a:xfrm>
          <a:prstGeom prst="rect">
            <a:avLst/>
          </a:prstGeom>
          <a:noFill/>
        </p:spPr>
        <p:txBody>
          <a:bodyPr wrap="square">
            <a:spAutoFit/>
          </a:bodyPr>
          <a:lstStyle/>
          <a:p>
            <a:pPr algn="l">
              <a:lnSpc>
                <a:spcPct val="115000"/>
              </a:lnSpc>
            </a:pPr>
            <a:r>
              <a:rPr sz="2600" b="1" i="0">
                <a:solidFill>
                  <a:srgbClr val="237A7A"/>
                </a:solidFill>
                <a:latin typeface="Calibri"/>
              </a:rPr>
              <a:t>2</a:t>
            </a:r>
          </a:p>
        </p:txBody>
      </p:sp>
      <p:sp>
        <p:nvSpPr>
          <p:cNvPr id="13" name="TextBox 12"/>
          <p:cNvSpPr txBox="1"/>
          <p:nvPr/>
        </p:nvSpPr>
        <p:spPr>
          <a:xfrm>
            <a:off x="1691640" y="3447287"/>
            <a:ext cx="6035040" cy="365760"/>
          </a:xfrm>
          <a:prstGeom prst="rect">
            <a:avLst/>
          </a:prstGeom>
          <a:noFill/>
        </p:spPr>
        <p:txBody>
          <a:bodyPr wrap="square">
            <a:spAutoFit/>
          </a:bodyPr>
          <a:lstStyle/>
          <a:p>
            <a:pPr algn="l">
              <a:lnSpc>
                <a:spcPct val="115000"/>
              </a:lnSpc>
            </a:pPr>
            <a:r>
              <a:rPr sz="1600" b="1" i="0">
                <a:solidFill>
                  <a:srgbClr val="17324D"/>
                </a:solidFill>
                <a:latin typeface="Calibri"/>
              </a:rPr>
              <a:t>Serialisation with Pickle and Joblib</a:t>
            </a:r>
          </a:p>
        </p:txBody>
      </p:sp>
      <p:sp>
        <p:nvSpPr>
          <p:cNvPr id="14" name="TextBox 13"/>
          <p:cNvSpPr txBox="1"/>
          <p:nvPr/>
        </p:nvSpPr>
        <p:spPr>
          <a:xfrm>
            <a:off x="1691640" y="3867911"/>
            <a:ext cx="8961120" cy="365760"/>
          </a:xfrm>
          <a:prstGeom prst="rect">
            <a:avLst/>
          </a:prstGeom>
          <a:noFill/>
        </p:spPr>
        <p:txBody>
          <a:bodyPr wrap="square">
            <a:spAutoFit/>
          </a:bodyPr>
          <a:lstStyle/>
          <a:p>
            <a:pPr algn="l">
              <a:lnSpc>
                <a:spcPct val="115000"/>
              </a:lnSpc>
            </a:pPr>
            <a:r>
              <a:rPr sz="1250" b="0" i="0">
                <a:solidFill>
                  <a:srgbClr val="5C6F82"/>
                </a:solidFill>
                <a:latin typeface="Calibri"/>
              </a:rPr>
              <a:t>both written, compared, hashed</a:t>
            </a:r>
          </a:p>
        </p:txBody>
      </p:sp>
      <p:sp>
        <p:nvSpPr>
          <p:cNvPr id="15" name="Rounded Rectangle 14"/>
          <p:cNvSpPr/>
          <p:nvPr/>
        </p:nvSpPr>
        <p:spPr>
          <a:xfrm>
            <a:off x="777240" y="4617719"/>
            <a:ext cx="10515600" cy="1143000"/>
          </a:xfrm>
          <a:prstGeom prst="roundRect">
            <a:avLst/>
          </a:prstGeom>
          <a:solidFill>
            <a:srgbClr val="F1F5F9"/>
          </a:solidFill>
          <a:ln>
            <a:solidFill>
              <a:srgbClr val="D3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4919471"/>
            <a:ext cx="548640" cy="548640"/>
          </a:xfrm>
          <a:prstGeom prst="rect">
            <a:avLst/>
          </a:prstGeom>
          <a:noFill/>
        </p:spPr>
        <p:txBody>
          <a:bodyPr wrap="square">
            <a:spAutoFit/>
          </a:bodyPr>
          <a:lstStyle/>
          <a:p>
            <a:pPr algn="l">
              <a:lnSpc>
                <a:spcPct val="115000"/>
              </a:lnSpc>
            </a:pPr>
            <a:r>
              <a:rPr sz="2600" b="1" i="0">
                <a:solidFill>
                  <a:srgbClr val="237A7A"/>
                </a:solidFill>
                <a:latin typeface="Calibri"/>
              </a:rPr>
              <a:t>3</a:t>
            </a:r>
          </a:p>
        </p:txBody>
      </p:sp>
      <p:sp>
        <p:nvSpPr>
          <p:cNvPr id="17" name="TextBox 16"/>
          <p:cNvSpPr txBox="1"/>
          <p:nvPr/>
        </p:nvSpPr>
        <p:spPr>
          <a:xfrm>
            <a:off x="1691640" y="4818887"/>
            <a:ext cx="6035040" cy="365760"/>
          </a:xfrm>
          <a:prstGeom prst="rect">
            <a:avLst/>
          </a:prstGeom>
          <a:noFill/>
        </p:spPr>
        <p:txBody>
          <a:bodyPr wrap="square">
            <a:spAutoFit/>
          </a:bodyPr>
          <a:lstStyle/>
          <a:p>
            <a:pPr algn="l">
              <a:lnSpc>
                <a:spcPct val="115000"/>
              </a:lnSpc>
            </a:pPr>
            <a:r>
              <a:rPr sz="1600" b="1" i="0">
                <a:solidFill>
                  <a:srgbClr val="17324D"/>
                </a:solidFill>
                <a:latin typeface="Calibri"/>
              </a:rPr>
              <a:t>Documentation and presentation</a:t>
            </a:r>
          </a:p>
        </p:txBody>
      </p:sp>
      <p:sp>
        <p:nvSpPr>
          <p:cNvPr id="18" name="TextBox 17"/>
          <p:cNvSpPr txBox="1"/>
          <p:nvPr/>
        </p:nvSpPr>
        <p:spPr>
          <a:xfrm>
            <a:off x="1691640" y="5239511"/>
            <a:ext cx="8961120" cy="365760"/>
          </a:xfrm>
          <a:prstGeom prst="rect">
            <a:avLst/>
          </a:prstGeom>
          <a:noFill/>
        </p:spPr>
        <p:txBody>
          <a:bodyPr wrap="square">
            <a:spAutoFit/>
          </a:bodyPr>
          <a:lstStyle/>
          <a:p>
            <a:pPr algn="l">
              <a:lnSpc>
                <a:spcPct val="115000"/>
              </a:lnSpc>
            </a:pPr>
            <a:r>
              <a:rPr sz="1250" b="0" i="0">
                <a:solidFill>
                  <a:srgbClr val="5C6F82"/>
                </a:solidFill>
                <a:latin typeface="Calibri"/>
              </a:rPr>
              <a:t>report, model card, API reference, this deck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23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84048"/>
            <a:ext cx="10607040" cy="274320"/>
          </a:xfrm>
          <a:prstGeom prst="rect">
            <a:avLst/>
          </a:prstGeom>
          <a:noFill/>
        </p:spPr>
        <p:txBody>
          <a:bodyPr wrap="square">
            <a:spAutoFit/>
          </a:bodyPr>
          <a:lstStyle/>
          <a:p>
            <a:pPr algn="l">
              <a:lnSpc>
                <a:spcPct val="115000"/>
              </a:lnSpc>
            </a:pPr>
            <a:r>
              <a:rPr sz="1100" b="1" i="0">
                <a:solidFill>
                  <a:srgbClr val="237A7A"/>
                </a:solidFill>
                <a:latin typeface="Calibri"/>
              </a:rPr>
              <a:t>WHAT IS DEPLOYED</a:t>
            </a:r>
          </a:p>
        </p:txBody>
      </p:sp>
      <p:sp>
        <p:nvSpPr>
          <p:cNvPr id="4" name="TextBox 3"/>
          <p:cNvSpPr txBox="1"/>
          <p:nvPr/>
        </p:nvSpPr>
        <p:spPr>
          <a:xfrm>
            <a:off x="777240" y="658368"/>
            <a:ext cx="10607040" cy="822960"/>
          </a:xfrm>
          <a:prstGeom prst="rect">
            <a:avLst/>
          </a:prstGeom>
          <a:noFill/>
        </p:spPr>
        <p:txBody>
          <a:bodyPr wrap="square">
            <a:spAutoFit/>
          </a:bodyPr>
          <a:lstStyle/>
          <a:p>
            <a:pPr algn="l">
              <a:lnSpc>
                <a:spcPct val="115000"/>
              </a:lnSpc>
            </a:pPr>
            <a:r>
              <a:rPr sz="3000" b="1" i="0">
                <a:solidFill>
                  <a:srgbClr val="17324D"/>
                </a:solidFill>
                <a:latin typeface="Calibri"/>
              </a:rPr>
              <a:t>The model: simple on purpose</a:t>
            </a:r>
          </a:p>
        </p:txBody>
      </p:sp>
      <p:sp>
        <p:nvSpPr>
          <p:cNvPr id="5" name="Rectangle 4"/>
          <p:cNvSpPr/>
          <p:nvPr/>
        </p:nvSpPr>
        <p:spPr>
          <a:xfrm>
            <a:off x="795528" y="1481328"/>
            <a:ext cx="1005840" cy="41148"/>
          </a:xfrm>
          <a:prstGeom prst="rect">
            <a:avLst/>
          </a:prstGeom>
          <a:solidFill>
            <a:srgbClr val="C46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19088"/>
            <a:ext cx="10607040" cy="274320"/>
          </a:xfrm>
          <a:prstGeom prst="rect">
            <a:avLst/>
          </a:prstGeom>
          <a:noFill/>
        </p:spPr>
        <p:txBody>
          <a:bodyPr wrap="none">
            <a:spAutoFit/>
          </a:bodyPr>
          <a:lstStyle/>
          <a:p>
            <a:r>
              <a:rPr sz="900">
                <a:solidFill>
                  <a:srgbClr val="5C6F82"/>
                </a:solidFill>
              </a:rPr>
              <a:t>Peram Dhanam Srinivas   ·   Week 4 Capstone   ·   AI Project Deployment</a:t>
            </a:r>
          </a:p>
        </p:txBody>
      </p:sp>
      <p:sp>
        <p:nvSpPr>
          <p:cNvPr id="7" name="TextBox 6"/>
          <p:cNvSpPr txBox="1"/>
          <p:nvPr/>
        </p:nvSpPr>
        <p:spPr>
          <a:xfrm>
            <a:off x="777240" y="1783080"/>
            <a:ext cx="5486400" cy="457200"/>
          </a:xfrm>
          <a:prstGeom prst="rect">
            <a:avLst/>
          </a:prstGeom>
          <a:noFill/>
        </p:spPr>
        <p:txBody>
          <a:bodyPr wrap="square">
            <a:spAutoFit/>
          </a:bodyPr>
          <a:lstStyle/>
          <a:p>
            <a:pPr algn="l">
              <a:lnSpc>
                <a:spcPct val="115000"/>
              </a:lnSpc>
            </a:pPr>
            <a:r>
              <a:rPr sz="2000" b="1" i="0">
                <a:solidFill>
                  <a:srgbClr val="17324D"/>
                </a:solidFill>
                <a:latin typeface="Calibri"/>
              </a:rPr>
              <a:t>Logistic Regression, C = 0.1, balanced weights</a:t>
            </a:r>
          </a:p>
        </p:txBody>
      </p:sp>
      <p:sp>
        <p:nvSpPr>
          <p:cNvPr id="8" name="TextBox 7"/>
          <p:cNvSpPr txBox="1"/>
          <p:nvPr/>
        </p:nvSpPr>
        <p:spPr>
          <a:xfrm>
            <a:off x="777240" y="2331720"/>
            <a:ext cx="5760720" cy="3291840"/>
          </a:xfrm>
          <a:prstGeom prst="rect">
            <a:avLst/>
          </a:prstGeom>
          <a:noFill/>
        </p:spPr>
        <p:txBody>
          <a:bodyPr wrap="square">
            <a:spAutoFit/>
          </a:bodyPr>
          <a:lstStyle/>
          <a:p>
            <a:pPr>
              <a:lnSpc>
                <a:spcPct val="112000"/>
              </a:lnSpc>
              <a:spcAft>
                <a:spcPts val="1200"/>
              </a:spcAft>
            </a:pPr>
            <a:r>
              <a:rPr sz="1500" b="1">
                <a:solidFill>
                  <a:srgbClr val="237A7A"/>
                </a:solidFill>
                <a:latin typeface="Calibri"/>
              </a:rPr>
              <a:t>Selected by  </a:t>
            </a:r>
            <a:r>
              <a:rPr sz="1500">
                <a:solidFill>
                  <a:srgbClr val="17324D"/>
                </a:solidFill>
                <a:latin typeface="Calibri"/>
              </a:rPr>
              <a:t>5-fold CV ROC-AUC in Week 3 (0.806)</a:t>
            </a:r>
          </a:p>
          <a:p>
            <a:pPr>
              <a:lnSpc>
                <a:spcPct val="112000"/>
              </a:lnSpc>
              <a:spcAft>
                <a:spcPts val="1200"/>
              </a:spcAft>
            </a:pPr>
            <a:r>
              <a:rPr sz="1500" b="1">
                <a:solidFill>
                  <a:srgbClr val="237A7A"/>
                </a:solidFill>
                <a:latin typeface="Calibri"/>
              </a:rPr>
              <a:t>Not the strongest  </a:t>
            </a:r>
            <a:r>
              <a:rPr sz="1500">
                <a:solidFill>
                  <a:srgbClr val="17324D"/>
                </a:solidFill>
                <a:latin typeface="Calibri"/>
              </a:rPr>
              <a:t>Random Forest scored 0.796 — inside one std. dev.</a:t>
            </a:r>
          </a:p>
          <a:p>
            <a:pPr>
              <a:lnSpc>
                <a:spcPct val="112000"/>
              </a:lnSpc>
              <a:spcAft>
                <a:spcPts val="1200"/>
              </a:spcAft>
            </a:pPr>
            <a:r>
              <a:rPr sz="1500" b="1">
                <a:solidFill>
                  <a:srgbClr val="237A7A"/>
                </a:solidFill>
                <a:latin typeface="Calibri"/>
              </a:rPr>
              <a:t>Chosen for  </a:t>
            </a:r>
            <a:r>
              <a:rPr sz="1500">
                <a:solidFill>
                  <a:srgbClr val="17324D"/>
                </a:solidFill>
                <a:latin typeface="Calibri"/>
              </a:rPr>
              <a:t>an exact explanation for every prediction</a:t>
            </a:r>
          </a:p>
          <a:p>
            <a:pPr>
              <a:lnSpc>
                <a:spcPct val="112000"/>
              </a:lnSpc>
              <a:spcAft>
                <a:spcPts val="1200"/>
              </a:spcAft>
            </a:pPr>
            <a:r>
              <a:rPr sz="1500" b="1">
                <a:solidFill>
                  <a:srgbClr val="237A7A"/>
                </a:solidFill>
                <a:latin typeface="Calibri"/>
              </a:rPr>
              <a:t>One artifact  </a:t>
            </a:r>
            <a:r>
              <a:rPr sz="1500">
                <a:solidFill>
                  <a:srgbClr val="17324D"/>
                </a:solidFill>
                <a:latin typeface="Calibri"/>
              </a:rPr>
              <a:t>imputer, scaler, encoder and classifier in one file</a:t>
            </a:r>
          </a:p>
        </p:txBody>
      </p:sp>
      <p:sp>
        <p:nvSpPr>
          <p:cNvPr id="9" name="Rounded Rectangle 8"/>
          <p:cNvSpPr/>
          <p:nvPr/>
        </p:nvSpPr>
        <p:spPr>
          <a:xfrm>
            <a:off x="6903720" y="1920240"/>
            <a:ext cx="1572768" cy="2103120"/>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95160" y="2148840"/>
            <a:ext cx="1389888" cy="640080"/>
          </a:xfrm>
          <a:prstGeom prst="rect">
            <a:avLst/>
          </a:prstGeom>
          <a:noFill/>
        </p:spPr>
        <p:txBody>
          <a:bodyPr wrap="square">
            <a:spAutoFit/>
          </a:bodyPr>
          <a:lstStyle/>
          <a:p>
            <a:pPr algn="ctr">
              <a:lnSpc>
                <a:spcPct val="115000"/>
              </a:lnSpc>
            </a:pPr>
            <a:r>
              <a:rPr sz="2100" b="1" i="0">
                <a:solidFill>
                  <a:srgbClr val="FFFFFF"/>
                </a:solidFill>
                <a:latin typeface="Calibri"/>
              </a:rPr>
              <a:t>0.768</a:t>
            </a:r>
          </a:p>
        </p:txBody>
      </p:sp>
      <p:sp>
        <p:nvSpPr>
          <p:cNvPr id="11" name="TextBox 10"/>
          <p:cNvSpPr txBox="1"/>
          <p:nvPr/>
        </p:nvSpPr>
        <p:spPr>
          <a:xfrm>
            <a:off x="6995160" y="2788920"/>
            <a:ext cx="1389888" cy="274320"/>
          </a:xfrm>
          <a:prstGeom prst="rect">
            <a:avLst/>
          </a:prstGeom>
          <a:noFill/>
        </p:spPr>
        <p:txBody>
          <a:bodyPr wrap="square">
            <a:spAutoFit/>
          </a:bodyPr>
          <a:lstStyle/>
          <a:p>
            <a:pPr algn="ctr">
              <a:lnSpc>
                <a:spcPct val="115000"/>
              </a:lnSpc>
            </a:pPr>
            <a:r>
              <a:rPr sz="1100" b="1" i="0">
                <a:solidFill>
                  <a:srgbClr val="7FC4C4"/>
                </a:solidFill>
                <a:latin typeface="Calibri"/>
              </a:rPr>
              <a:t>ROC-AUC</a:t>
            </a:r>
          </a:p>
        </p:txBody>
      </p:sp>
      <p:sp>
        <p:nvSpPr>
          <p:cNvPr id="12" name="TextBox 11"/>
          <p:cNvSpPr txBox="1"/>
          <p:nvPr/>
        </p:nvSpPr>
        <p:spPr>
          <a:xfrm>
            <a:off x="6995160" y="3127248"/>
            <a:ext cx="1389888" cy="731520"/>
          </a:xfrm>
          <a:prstGeom prst="rect">
            <a:avLst/>
          </a:prstGeom>
          <a:noFill/>
        </p:spPr>
        <p:txBody>
          <a:bodyPr wrap="square">
            <a:spAutoFit/>
          </a:bodyPr>
          <a:lstStyle/>
          <a:p>
            <a:pPr algn="ctr">
              <a:lnSpc>
                <a:spcPct val="115000"/>
              </a:lnSpc>
            </a:pPr>
            <a:r>
              <a:rPr sz="900" b="0" i="0">
                <a:solidFill>
                  <a:srgbClr val="B8CBD9"/>
                </a:solidFill>
                <a:latin typeface="Calibri"/>
              </a:rPr>
              <a:t>held-out</a:t>
            </a:r>
          </a:p>
        </p:txBody>
      </p:sp>
      <p:sp>
        <p:nvSpPr>
          <p:cNvPr id="13" name="Rounded Rectangle 12"/>
          <p:cNvSpPr/>
          <p:nvPr/>
        </p:nvSpPr>
        <p:spPr>
          <a:xfrm>
            <a:off x="8604504" y="1920240"/>
            <a:ext cx="1572768" cy="2103120"/>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95944" y="2148840"/>
            <a:ext cx="1389888" cy="640080"/>
          </a:xfrm>
          <a:prstGeom prst="rect">
            <a:avLst/>
          </a:prstGeom>
          <a:noFill/>
        </p:spPr>
        <p:txBody>
          <a:bodyPr wrap="square">
            <a:spAutoFit/>
          </a:bodyPr>
          <a:lstStyle/>
          <a:p>
            <a:pPr algn="ctr">
              <a:lnSpc>
                <a:spcPct val="115000"/>
              </a:lnSpc>
            </a:pPr>
            <a:r>
              <a:rPr sz="2100" b="1" i="0">
                <a:solidFill>
                  <a:srgbClr val="FFFFFF"/>
                </a:solidFill>
                <a:latin typeface="Calibri"/>
              </a:rPr>
              <a:t>0.656</a:t>
            </a:r>
          </a:p>
        </p:txBody>
      </p:sp>
      <p:sp>
        <p:nvSpPr>
          <p:cNvPr id="15" name="TextBox 14"/>
          <p:cNvSpPr txBox="1"/>
          <p:nvPr/>
        </p:nvSpPr>
        <p:spPr>
          <a:xfrm>
            <a:off x="8695944" y="2788920"/>
            <a:ext cx="1389888" cy="274320"/>
          </a:xfrm>
          <a:prstGeom prst="rect">
            <a:avLst/>
          </a:prstGeom>
          <a:noFill/>
        </p:spPr>
        <p:txBody>
          <a:bodyPr wrap="square">
            <a:spAutoFit/>
          </a:bodyPr>
          <a:lstStyle/>
          <a:p>
            <a:pPr algn="ctr">
              <a:lnSpc>
                <a:spcPct val="115000"/>
              </a:lnSpc>
            </a:pPr>
            <a:r>
              <a:rPr sz="1100" b="1" i="0">
                <a:solidFill>
                  <a:srgbClr val="7FC4C4"/>
                </a:solidFill>
                <a:latin typeface="Calibri"/>
              </a:rPr>
              <a:t>recall</a:t>
            </a:r>
          </a:p>
        </p:txBody>
      </p:sp>
      <p:sp>
        <p:nvSpPr>
          <p:cNvPr id="16" name="TextBox 15"/>
          <p:cNvSpPr txBox="1"/>
          <p:nvPr/>
        </p:nvSpPr>
        <p:spPr>
          <a:xfrm>
            <a:off x="8695944" y="3127248"/>
            <a:ext cx="1389888" cy="731520"/>
          </a:xfrm>
          <a:prstGeom prst="rect">
            <a:avLst/>
          </a:prstGeom>
          <a:noFill/>
        </p:spPr>
        <p:txBody>
          <a:bodyPr wrap="square">
            <a:spAutoFit/>
          </a:bodyPr>
          <a:lstStyle/>
          <a:p>
            <a:pPr algn="ctr">
              <a:lnSpc>
                <a:spcPct val="115000"/>
              </a:lnSpc>
            </a:pPr>
            <a:r>
              <a:rPr sz="900" b="0" i="0">
                <a:solidFill>
                  <a:srgbClr val="B8CBD9"/>
                </a:solidFill>
                <a:latin typeface="Calibri"/>
              </a:rPr>
              <a:t>two thirds of churners</a:t>
            </a:r>
          </a:p>
        </p:txBody>
      </p:sp>
      <p:sp>
        <p:nvSpPr>
          <p:cNvPr id="17" name="Rounded Rectangle 16"/>
          <p:cNvSpPr/>
          <p:nvPr/>
        </p:nvSpPr>
        <p:spPr>
          <a:xfrm>
            <a:off x="10305288" y="1920240"/>
            <a:ext cx="1572768" cy="2103120"/>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96728" y="2148840"/>
            <a:ext cx="1389888" cy="640080"/>
          </a:xfrm>
          <a:prstGeom prst="rect">
            <a:avLst/>
          </a:prstGeom>
          <a:noFill/>
        </p:spPr>
        <p:txBody>
          <a:bodyPr wrap="square">
            <a:spAutoFit/>
          </a:bodyPr>
          <a:lstStyle/>
          <a:p>
            <a:pPr algn="ctr">
              <a:lnSpc>
                <a:spcPct val="115000"/>
              </a:lnSpc>
            </a:pPr>
            <a:r>
              <a:rPr sz="2100" b="1" i="0">
                <a:solidFill>
                  <a:srgbClr val="FFFFFF"/>
                </a:solidFill>
                <a:latin typeface="Calibri"/>
              </a:rPr>
              <a:t>5.7 KiB</a:t>
            </a:r>
          </a:p>
        </p:txBody>
      </p:sp>
      <p:sp>
        <p:nvSpPr>
          <p:cNvPr id="19" name="TextBox 18"/>
          <p:cNvSpPr txBox="1"/>
          <p:nvPr/>
        </p:nvSpPr>
        <p:spPr>
          <a:xfrm>
            <a:off x="10396728" y="2788920"/>
            <a:ext cx="1389888" cy="274320"/>
          </a:xfrm>
          <a:prstGeom prst="rect">
            <a:avLst/>
          </a:prstGeom>
          <a:noFill/>
        </p:spPr>
        <p:txBody>
          <a:bodyPr wrap="square">
            <a:spAutoFit/>
          </a:bodyPr>
          <a:lstStyle/>
          <a:p>
            <a:pPr algn="ctr">
              <a:lnSpc>
                <a:spcPct val="115000"/>
              </a:lnSpc>
            </a:pPr>
            <a:r>
              <a:rPr sz="1100" b="1" i="0">
                <a:solidFill>
                  <a:srgbClr val="7FC4C4"/>
                </a:solidFill>
                <a:latin typeface="Calibri"/>
              </a:rPr>
              <a:t>artifact</a:t>
            </a:r>
          </a:p>
        </p:txBody>
      </p:sp>
      <p:sp>
        <p:nvSpPr>
          <p:cNvPr id="20" name="TextBox 19"/>
          <p:cNvSpPr txBox="1"/>
          <p:nvPr/>
        </p:nvSpPr>
        <p:spPr>
          <a:xfrm>
            <a:off x="10396728" y="3127248"/>
            <a:ext cx="1389888" cy="731520"/>
          </a:xfrm>
          <a:prstGeom prst="rect">
            <a:avLst/>
          </a:prstGeom>
          <a:noFill/>
        </p:spPr>
        <p:txBody>
          <a:bodyPr wrap="square">
            <a:spAutoFit/>
          </a:bodyPr>
          <a:lstStyle/>
          <a:p>
            <a:pPr algn="ctr">
              <a:lnSpc>
                <a:spcPct val="115000"/>
              </a:lnSpc>
            </a:pPr>
            <a:r>
              <a:rPr sz="900" b="0" i="0">
                <a:solidFill>
                  <a:srgbClr val="B8CBD9"/>
                </a:solidFill>
                <a:latin typeface="Calibri"/>
              </a:rPr>
              <a:t>5.7 KiB, 1 ms load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23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84048"/>
            <a:ext cx="10607040" cy="274320"/>
          </a:xfrm>
          <a:prstGeom prst="rect">
            <a:avLst/>
          </a:prstGeom>
          <a:noFill/>
        </p:spPr>
        <p:txBody>
          <a:bodyPr wrap="square">
            <a:spAutoFit/>
          </a:bodyPr>
          <a:lstStyle/>
          <a:p>
            <a:pPr algn="l">
              <a:lnSpc>
                <a:spcPct val="115000"/>
              </a:lnSpc>
            </a:pPr>
            <a:r>
              <a:rPr sz="1100" b="1" i="0">
                <a:solidFill>
                  <a:srgbClr val="237A7A"/>
                </a:solidFill>
                <a:latin typeface="Calibri"/>
              </a:rPr>
              <a:t>ARCHITECTURE</a:t>
            </a:r>
          </a:p>
        </p:txBody>
      </p:sp>
      <p:sp>
        <p:nvSpPr>
          <p:cNvPr id="4" name="TextBox 3"/>
          <p:cNvSpPr txBox="1"/>
          <p:nvPr/>
        </p:nvSpPr>
        <p:spPr>
          <a:xfrm>
            <a:off x="777240" y="658368"/>
            <a:ext cx="10607040" cy="822960"/>
          </a:xfrm>
          <a:prstGeom prst="rect">
            <a:avLst/>
          </a:prstGeom>
          <a:noFill/>
        </p:spPr>
        <p:txBody>
          <a:bodyPr wrap="square">
            <a:spAutoFit/>
          </a:bodyPr>
          <a:lstStyle/>
          <a:p>
            <a:pPr algn="l">
              <a:lnSpc>
                <a:spcPct val="115000"/>
              </a:lnSpc>
            </a:pPr>
            <a:r>
              <a:rPr sz="3000" b="1" i="0">
                <a:solidFill>
                  <a:srgbClr val="17324D"/>
                </a:solidFill>
                <a:latin typeface="Calibri"/>
              </a:rPr>
              <a:t>One request, end to end</a:t>
            </a:r>
          </a:p>
        </p:txBody>
      </p:sp>
      <p:sp>
        <p:nvSpPr>
          <p:cNvPr id="5" name="Rectangle 4"/>
          <p:cNvSpPr/>
          <p:nvPr/>
        </p:nvSpPr>
        <p:spPr>
          <a:xfrm>
            <a:off x="795528" y="1481328"/>
            <a:ext cx="1005840" cy="41148"/>
          </a:xfrm>
          <a:prstGeom prst="rect">
            <a:avLst/>
          </a:prstGeom>
          <a:solidFill>
            <a:srgbClr val="C46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19088"/>
            <a:ext cx="10607040" cy="274320"/>
          </a:xfrm>
          <a:prstGeom prst="rect">
            <a:avLst/>
          </a:prstGeom>
          <a:noFill/>
        </p:spPr>
        <p:txBody>
          <a:bodyPr wrap="none">
            <a:spAutoFit/>
          </a:bodyPr>
          <a:lstStyle/>
          <a:p>
            <a:r>
              <a:rPr sz="900">
                <a:solidFill>
                  <a:srgbClr val="5C6F82"/>
                </a:solidFill>
              </a:rPr>
              <a:t>Peram Dhanam Srinivas   ·   Week 4 Capstone   ·   AI Project Deployment</a:t>
            </a:r>
          </a:p>
        </p:txBody>
      </p:sp>
      <p:pic>
        <p:nvPicPr>
          <p:cNvPr id="7" name="Picture 6" descr="00_system_architecture.png"/>
          <p:cNvPicPr>
            <a:picLocks noChangeAspect="1"/>
          </p:cNvPicPr>
          <p:nvPr/>
        </p:nvPicPr>
        <p:blipFill>
          <a:blip r:embed="rId2"/>
          <a:stretch>
            <a:fillRect/>
          </a:stretch>
        </p:blipFill>
        <p:spPr>
          <a:xfrm>
            <a:off x="2084152" y="1691640"/>
            <a:ext cx="7993216" cy="44805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23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84048"/>
            <a:ext cx="10607040" cy="274320"/>
          </a:xfrm>
          <a:prstGeom prst="rect">
            <a:avLst/>
          </a:prstGeom>
          <a:noFill/>
        </p:spPr>
        <p:txBody>
          <a:bodyPr wrap="square">
            <a:spAutoFit/>
          </a:bodyPr>
          <a:lstStyle/>
          <a:p>
            <a:pPr algn="l">
              <a:lnSpc>
                <a:spcPct val="115000"/>
              </a:lnSpc>
            </a:pPr>
            <a:r>
              <a:rPr sz="1100" b="1" i="0">
                <a:solidFill>
                  <a:srgbClr val="237A7A"/>
                </a:solidFill>
                <a:latin typeface="Calibri"/>
              </a:rPr>
              <a:t>THE API</a:t>
            </a:r>
          </a:p>
        </p:txBody>
      </p:sp>
      <p:sp>
        <p:nvSpPr>
          <p:cNvPr id="4" name="TextBox 3"/>
          <p:cNvSpPr txBox="1"/>
          <p:nvPr/>
        </p:nvSpPr>
        <p:spPr>
          <a:xfrm>
            <a:off x="777240" y="658368"/>
            <a:ext cx="10607040" cy="822960"/>
          </a:xfrm>
          <a:prstGeom prst="rect">
            <a:avLst/>
          </a:prstGeom>
          <a:noFill/>
        </p:spPr>
        <p:txBody>
          <a:bodyPr wrap="square">
            <a:spAutoFit/>
          </a:bodyPr>
          <a:lstStyle/>
          <a:p>
            <a:pPr algn="l">
              <a:lnSpc>
                <a:spcPct val="115000"/>
              </a:lnSpc>
            </a:pPr>
            <a:r>
              <a:rPr sz="3000" b="1" i="0">
                <a:solidFill>
                  <a:srgbClr val="17324D"/>
                </a:solidFill>
                <a:latin typeface="Calibri"/>
              </a:rPr>
              <a:t>Six endpoints, each with one job</a:t>
            </a:r>
          </a:p>
        </p:txBody>
      </p:sp>
      <p:sp>
        <p:nvSpPr>
          <p:cNvPr id="5" name="Rectangle 4"/>
          <p:cNvSpPr/>
          <p:nvPr/>
        </p:nvSpPr>
        <p:spPr>
          <a:xfrm>
            <a:off x="795528" y="1481328"/>
            <a:ext cx="1005840" cy="41148"/>
          </a:xfrm>
          <a:prstGeom prst="rect">
            <a:avLst/>
          </a:prstGeom>
          <a:solidFill>
            <a:srgbClr val="C46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19088"/>
            <a:ext cx="10607040" cy="274320"/>
          </a:xfrm>
          <a:prstGeom prst="rect">
            <a:avLst/>
          </a:prstGeom>
          <a:noFill/>
        </p:spPr>
        <p:txBody>
          <a:bodyPr wrap="none">
            <a:spAutoFit/>
          </a:bodyPr>
          <a:lstStyle/>
          <a:p>
            <a:r>
              <a:rPr sz="900">
                <a:solidFill>
                  <a:srgbClr val="5C6F82"/>
                </a:solidFill>
              </a:rPr>
              <a:t>Peram Dhanam Srinivas   ·   Week 4 Capstone   ·   AI Project Deployment</a:t>
            </a:r>
          </a:p>
        </p:txBody>
      </p:sp>
      <p:sp>
        <p:nvSpPr>
          <p:cNvPr id="7" name="TextBox 6"/>
          <p:cNvSpPr txBox="1"/>
          <p:nvPr/>
        </p:nvSpPr>
        <p:spPr>
          <a:xfrm>
            <a:off x="777240" y="1828800"/>
            <a:ext cx="731520" cy="320040"/>
          </a:xfrm>
          <a:prstGeom prst="rect">
            <a:avLst/>
          </a:prstGeom>
          <a:noFill/>
        </p:spPr>
        <p:txBody>
          <a:bodyPr wrap="square">
            <a:spAutoFit/>
          </a:bodyPr>
          <a:lstStyle/>
          <a:p>
            <a:pPr algn="l">
              <a:lnSpc>
                <a:spcPct val="115000"/>
              </a:lnSpc>
            </a:pPr>
            <a:r>
              <a:rPr sz="1200" b="1" i="0">
                <a:solidFill>
                  <a:srgbClr val="237A7A"/>
                </a:solidFill>
                <a:latin typeface="Calibri"/>
              </a:rPr>
              <a:t>GET</a:t>
            </a:r>
          </a:p>
        </p:txBody>
      </p:sp>
      <p:sp>
        <p:nvSpPr>
          <p:cNvPr id="8" name="TextBox 7"/>
          <p:cNvSpPr txBox="1"/>
          <p:nvPr/>
        </p:nvSpPr>
        <p:spPr>
          <a:xfrm>
            <a:off x="1600200" y="1828800"/>
            <a:ext cx="3200400" cy="320040"/>
          </a:xfrm>
          <a:prstGeom prst="rect">
            <a:avLst/>
          </a:prstGeom>
          <a:noFill/>
        </p:spPr>
        <p:txBody>
          <a:bodyPr wrap="square">
            <a:spAutoFit/>
          </a:bodyPr>
          <a:lstStyle/>
          <a:p>
            <a:pPr algn="l">
              <a:lnSpc>
                <a:spcPct val="115000"/>
              </a:lnSpc>
            </a:pPr>
            <a:r>
              <a:rPr sz="1400" b="1" i="0">
                <a:solidFill>
                  <a:srgbClr val="17324D"/>
                </a:solidFill>
                <a:latin typeface="Calibri"/>
              </a:rPr>
              <a:t>/health</a:t>
            </a:r>
          </a:p>
        </p:txBody>
      </p:sp>
      <p:sp>
        <p:nvSpPr>
          <p:cNvPr id="9" name="TextBox 8"/>
          <p:cNvSpPr txBox="1"/>
          <p:nvPr/>
        </p:nvSpPr>
        <p:spPr>
          <a:xfrm>
            <a:off x="4937760" y="1865376"/>
            <a:ext cx="6035040" cy="320040"/>
          </a:xfrm>
          <a:prstGeom prst="rect">
            <a:avLst/>
          </a:prstGeom>
          <a:noFill/>
        </p:spPr>
        <p:txBody>
          <a:bodyPr wrap="square">
            <a:spAutoFit/>
          </a:bodyPr>
          <a:lstStyle/>
          <a:p>
            <a:pPr algn="l">
              <a:lnSpc>
                <a:spcPct val="115000"/>
              </a:lnSpc>
            </a:pPr>
            <a:r>
              <a:rPr sz="1250" b="0" i="0">
                <a:solidFill>
                  <a:srgbClr val="5C6F82"/>
                </a:solidFill>
                <a:latin typeface="Calibri"/>
              </a:rPr>
              <a:t>is the model actually loaded?</a:t>
            </a:r>
          </a:p>
        </p:txBody>
      </p:sp>
      <p:sp>
        <p:nvSpPr>
          <p:cNvPr id="10" name="TextBox 9"/>
          <p:cNvSpPr txBox="1"/>
          <p:nvPr/>
        </p:nvSpPr>
        <p:spPr>
          <a:xfrm>
            <a:off x="777240" y="2432304"/>
            <a:ext cx="731520" cy="320040"/>
          </a:xfrm>
          <a:prstGeom prst="rect">
            <a:avLst/>
          </a:prstGeom>
          <a:noFill/>
        </p:spPr>
        <p:txBody>
          <a:bodyPr wrap="square">
            <a:spAutoFit/>
          </a:bodyPr>
          <a:lstStyle/>
          <a:p>
            <a:pPr algn="l">
              <a:lnSpc>
                <a:spcPct val="115000"/>
              </a:lnSpc>
            </a:pPr>
            <a:r>
              <a:rPr sz="1200" b="1" i="0">
                <a:solidFill>
                  <a:srgbClr val="237A7A"/>
                </a:solidFill>
                <a:latin typeface="Calibri"/>
              </a:rPr>
              <a:t>GET</a:t>
            </a:r>
          </a:p>
        </p:txBody>
      </p:sp>
      <p:sp>
        <p:nvSpPr>
          <p:cNvPr id="11" name="TextBox 10"/>
          <p:cNvSpPr txBox="1"/>
          <p:nvPr/>
        </p:nvSpPr>
        <p:spPr>
          <a:xfrm>
            <a:off x="1600200" y="2432304"/>
            <a:ext cx="3200400" cy="320040"/>
          </a:xfrm>
          <a:prstGeom prst="rect">
            <a:avLst/>
          </a:prstGeom>
          <a:noFill/>
        </p:spPr>
        <p:txBody>
          <a:bodyPr wrap="square">
            <a:spAutoFit/>
          </a:bodyPr>
          <a:lstStyle/>
          <a:p>
            <a:pPr algn="l">
              <a:lnSpc>
                <a:spcPct val="115000"/>
              </a:lnSpc>
            </a:pPr>
            <a:r>
              <a:rPr sz="1400" b="1" i="0">
                <a:solidFill>
                  <a:srgbClr val="17324D"/>
                </a:solidFill>
                <a:latin typeface="Calibri"/>
              </a:rPr>
              <a:t>/model</a:t>
            </a:r>
          </a:p>
        </p:txBody>
      </p:sp>
      <p:sp>
        <p:nvSpPr>
          <p:cNvPr id="12" name="TextBox 11"/>
          <p:cNvSpPr txBox="1"/>
          <p:nvPr/>
        </p:nvSpPr>
        <p:spPr>
          <a:xfrm>
            <a:off x="4937760" y="2468880"/>
            <a:ext cx="6035040" cy="320040"/>
          </a:xfrm>
          <a:prstGeom prst="rect">
            <a:avLst/>
          </a:prstGeom>
          <a:noFill/>
        </p:spPr>
        <p:txBody>
          <a:bodyPr wrap="square">
            <a:spAutoFit/>
          </a:bodyPr>
          <a:lstStyle/>
          <a:p>
            <a:pPr algn="l">
              <a:lnSpc>
                <a:spcPct val="115000"/>
              </a:lnSpc>
            </a:pPr>
            <a:r>
              <a:rPr sz="1250" b="0" i="0">
                <a:solidFill>
                  <a:srgbClr val="5C6F82"/>
                </a:solidFill>
                <a:latin typeface="Calibri"/>
              </a:rPr>
              <a:t>model card: metrics, intended use, limits</a:t>
            </a:r>
          </a:p>
        </p:txBody>
      </p:sp>
      <p:sp>
        <p:nvSpPr>
          <p:cNvPr id="13" name="TextBox 12"/>
          <p:cNvSpPr txBox="1"/>
          <p:nvPr/>
        </p:nvSpPr>
        <p:spPr>
          <a:xfrm>
            <a:off x="777240" y="3035808"/>
            <a:ext cx="731520" cy="320040"/>
          </a:xfrm>
          <a:prstGeom prst="rect">
            <a:avLst/>
          </a:prstGeom>
          <a:noFill/>
        </p:spPr>
        <p:txBody>
          <a:bodyPr wrap="square">
            <a:spAutoFit/>
          </a:bodyPr>
          <a:lstStyle/>
          <a:p>
            <a:pPr algn="l">
              <a:lnSpc>
                <a:spcPct val="115000"/>
              </a:lnSpc>
            </a:pPr>
            <a:r>
              <a:rPr sz="1200" b="1" i="0">
                <a:solidFill>
                  <a:srgbClr val="237A7A"/>
                </a:solidFill>
                <a:latin typeface="Calibri"/>
              </a:rPr>
              <a:t>GET</a:t>
            </a:r>
          </a:p>
        </p:txBody>
      </p:sp>
      <p:sp>
        <p:nvSpPr>
          <p:cNvPr id="14" name="TextBox 13"/>
          <p:cNvSpPr txBox="1"/>
          <p:nvPr/>
        </p:nvSpPr>
        <p:spPr>
          <a:xfrm>
            <a:off x="1600200" y="3035808"/>
            <a:ext cx="3200400" cy="320040"/>
          </a:xfrm>
          <a:prstGeom prst="rect">
            <a:avLst/>
          </a:prstGeom>
          <a:noFill/>
        </p:spPr>
        <p:txBody>
          <a:bodyPr wrap="square">
            <a:spAutoFit/>
          </a:bodyPr>
          <a:lstStyle/>
          <a:p>
            <a:pPr algn="l">
              <a:lnSpc>
                <a:spcPct val="115000"/>
              </a:lnSpc>
            </a:pPr>
            <a:r>
              <a:rPr sz="1400" b="1" i="0">
                <a:solidFill>
                  <a:srgbClr val="17324D"/>
                </a:solidFill>
                <a:latin typeface="Calibri"/>
              </a:rPr>
              <a:t>/model/manifest</a:t>
            </a:r>
          </a:p>
        </p:txBody>
      </p:sp>
      <p:sp>
        <p:nvSpPr>
          <p:cNvPr id="15" name="TextBox 14"/>
          <p:cNvSpPr txBox="1"/>
          <p:nvPr/>
        </p:nvSpPr>
        <p:spPr>
          <a:xfrm>
            <a:off x="4937760" y="3072384"/>
            <a:ext cx="6035040" cy="320040"/>
          </a:xfrm>
          <a:prstGeom prst="rect">
            <a:avLst/>
          </a:prstGeom>
          <a:noFill/>
        </p:spPr>
        <p:txBody>
          <a:bodyPr wrap="square">
            <a:spAutoFit/>
          </a:bodyPr>
          <a:lstStyle/>
          <a:p>
            <a:pPr algn="l">
              <a:lnSpc>
                <a:spcPct val="115000"/>
              </a:lnSpc>
            </a:pPr>
            <a:r>
              <a:rPr sz="1250" b="0" i="0">
                <a:solidFill>
                  <a:srgbClr val="5C6F82"/>
                </a:solidFill>
                <a:latin typeface="Calibri"/>
              </a:rPr>
              <a:t>SHA-256 per artifact file</a:t>
            </a:r>
          </a:p>
        </p:txBody>
      </p:sp>
      <p:sp>
        <p:nvSpPr>
          <p:cNvPr id="16" name="TextBox 15"/>
          <p:cNvSpPr txBox="1"/>
          <p:nvPr/>
        </p:nvSpPr>
        <p:spPr>
          <a:xfrm>
            <a:off x="777240" y="3639312"/>
            <a:ext cx="731520" cy="320040"/>
          </a:xfrm>
          <a:prstGeom prst="rect">
            <a:avLst/>
          </a:prstGeom>
          <a:noFill/>
        </p:spPr>
        <p:txBody>
          <a:bodyPr wrap="square">
            <a:spAutoFit/>
          </a:bodyPr>
          <a:lstStyle/>
          <a:p>
            <a:pPr algn="l">
              <a:lnSpc>
                <a:spcPct val="115000"/>
              </a:lnSpc>
            </a:pPr>
            <a:r>
              <a:rPr sz="1200" b="1" i="0">
                <a:solidFill>
                  <a:srgbClr val="C4664D"/>
                </a:solidFill>
                <a:latin typeface="Calibri"/>
              </a:rPr>
              <a:t>POST</a:t>
            </a:r>
          </a:p>
        </p:txBody>
      </p:sp>
      <p:sp>
        <p:nvSpPr>
          <p:cNvPr id="17" name="TextBox 16"/>
          <p:cNvSpPr txBox="1"/>
          <p:nvPr/>
        </p:nvSpPr>
        <p:spPr>
          <a:xfrm>
            <a:off x="1600200" y="3639312"/>
            <a:ext cx="3200400" cy="320040"/>
          </a:xfrm>
          <a:prstGeom prst="rect">
            <a:avLst/>
          </a:prstGeom>
          <a:noFill/>
        </p:spPr>
        <p:txBody>
          <a:bodyPr wrap="square">
            <a:spAutoFit/>
          </a:bodyPr>
          <a:lstStyle/>
          <a:p>
            <a:pPr algn="l">
              <a:lnSpc>
                <a:spcPct val="115000"/>
              </a:lnSpc>
            </a:pPr>
            <a:r>
              <a:rPr sz="1400" b="1" i="0">
                <a:solidFill>
                  <a:srgbClr val="17324D"/>
                </a:solidFill>
                <a:latin typeface="Calibri"/>
              </a:rPr>
              <a:t>/predict</a:t>
            </a:r>
          </a:p>
        </p:txBody>
      </p:sp>
      <p:sp>
        <p:nvSpPr>
          <p:cNvPr id="18" name="TextBox 17"/>
          <p:cNvSpPr txBox="1"/>
          <p:nvPr/>
        </p:nvSpPr>
        <p:spPr>
          <a:xfrm>
            <a:off x="4937760" y="3675888"/>
            <a:ext cx="6035040" cy="320040"/>
          </a:xfrm>
          <a:prstGeom prst="rect">
            <a:avLst/>
          </a:prstGeom>
          <a:noFill/>
        </p:spPr>
        <p:txBody>
          <a:bodyPr wrap="square">
            <a:spAutoFit/>
          </a:bodyPr>
          <a:lstStyle/>
          <a:p>
            <a:pPr algn="l">
              <a:lnSpc>
                <a:spcPct val="115000"/>
              </a:lnSpc>
            </a:pPr>
            <a:r>
              <a:rPr sz="1250" b="0" i="0">
                <a:solidFill>
                  <a:srgbClr val="5C6F82"/>
                </a:solidFill>
                <a:latin typeface="Calibri"/>
              </a:rPr>
              <a:t>one customer, with an explanation</a:t>
            </a:r>
          </a:p>
        </p:txBody>
      </p:sp>
      <p:sp>
        <p:nvSpPr>
          <p:cNvPr id="19" name="TextBox 18"/>
          <p:cNvSpPr txBox="1"/>
          <p:nvPr/>
        </p:nvSpPr>
        <p:spPr>
          <a:xfrm>
            <a:off x="777240" y="4242816"/>
            <a:ext cx="731520" cy="320040"/>
          </a:xfrm>
          <a:prstGeom prst="rect">
            <a:avLst/>
          </a:prstGeom>
          <a:noFill/>
        </p:spPr>
        <p:txBody>
          <a:bodyPr wrap="square">
            <a:spAutoFit/>
          </a:bodyPr>
          <a:lstStyle/>
          <a:p>
            <a:pPr algn="l">
              <a:lnSpc>
                <a:spcPct val="115000"/>
              </a:lnSpc>
            </a:pPr>
            <a:r>
              <a:rPr sz="1200" b="1" i="0">
                <a:solidFill>
                  <a:srgbClr val="C4664D"/>
                </a:solidFill>
                <a:latin typeface="Calibri"/>
              </a:rPr>
              <a:t>POST</a:t>
            </a:r>
          </a:p>
        </p:txBody>
      </p:sp>
      <p:sp>
        <p:nvSpPr>
          <p:cNvPr id="20" name="TextBox 19"/>
          <p:cNvSpPr txBox="1"/>
          <p:nvPr/>
        </p:nvSpPr>
        <p:spPr>
          <a:xfrm>
            <a:off x="1600200" y="4242816"/>
            <a:ext cx="3200400" cy="320040"/>
          </a:xfrm>
          <a:prstGeom prst="rect">
            <a:avLst/>
          </a:prstGeom>
          <a:noFill/>
        </p:spPr>
        <p:txBody>
          <a:bodyPr wrap="square">
            <a:spAutoFit/>
          </a:bodyPr>
          <a:lstStyle/>
          <a:p>
            <a:pPr algn="l">
              <a:lnSpc>
                <a:spcPct val="115000"/>
              </a:lnSpc>
            </a:pPr>
            <a:r>
              <a:rPr sz="1400" b="1" i="0">
                <a:solidFill>
                  <a:srgbClr val="17324D"/>
                </a:solidFill>
                <a:latin typeface="Calibri"/>
              </a:rPr>
              <a:t>/predict/batch</a:t>
            </a:r>
          </a:p>
        </p:txBody>
      </p:sp>
      <p:sp>
        <p:nvSpPr>
          <p:cNvPr id="21" name="TextBox 20"/>
          <p:cNvSpPr txBox="1"/>
          <p:nvPr/>
        </p:nvSpPr>
        <p:spPr>
          <a:xfrm>
            <a:off x="4937760" y="4279392"/>
            <a:ext cx="6035040" cy="320040"/>
          </a:xfrm>
          <a:prstGeom prst="rect">
            <a:avLst/>
          </a:prstGeom>
          <a:noFill/>
        </p:spPr>
        <p:txBody>
          <a:bodyPr wrap="square">
            <a:spAutoFit/>
          </a:bodyPr>
          <a:lstStyle/>
          <a:p>
            <a:pPr algn="l">
              <a:lnSpc>
                <a:spcPct val="115000"/>
              </a:lnSpc>
            </a:pPr>
            <a:r>
              <a:rPr sz="1250" b="0" i="0">
                <a:solidFill>
                  <a:srgbClr val="5C6F82"/>
                </a:solidFill>
                <a:latin typeface="Calibri"/>
              </a:rPr>
              <a:t>up to 1,000, vectorised</a:t>
            </a:r>
          </a:p>
        </p:txBody>
      </p:sp>
      <p:sp>
        <p:nvSpPr>
          <p:cNvPr id="22" name="TextBox 21"/>
          <p:cNvSpPr txBox="1"/>
          <p:nvPr/>
        </p:nvSpPr>
        <p:spPr>
          <a:xfrm>
            <a:off x="777240" y="4846320"/>
            <a:ext cx="731520" cy="320040"/>
          </a:xfrm>
          <a:prstGeom prst="rect">
            <a:avLst/>
          </a:prstGeom>
          <a:noFill/>
        </p:spPr>
        <p:txBody>
          <a:bodyPr wrap="square">
            <a:spAutoFit/>
          </a:bodyPr>
          <a:lstStyle/>
          <a:p>
            <a:pPr algn="l">
              <a:lnSpc>
                <a:spcPct val="115000"/>
              </a:lnSpc>
            </a:pPr>
            <a:r>
              <a:rPr sz="1200" b="1" i="0">
                <a:solidFill>
                  <a:srgbClr val="237A7A"/>
                </a:solidFill>
                <a:latin typeface="Calibri"/>
              </a:rPr>
              <a:t>GET</a:t>
            </a:r>
          </a:p>
        </p:txBody>
      </p:sp>
      <p:sp>
        <p:nvSpPr>
          <p:cNvPr id="23" name="TextBox 22"/>
          <p:cNvSpPr txBox="1"/>
          <p:nvPr/>
        </p:nvSpPr>
        <p:spPr>
          <a:xfrm>
            <a:off x="1600200" y="4846320"/>
            <a:ext cx="3200400" cy="320040"/>
          </a:xfrm>
          <a:prstGeom prst="rect">
            <a:avLst/>
          </a:prstGeom>
          <a:noFill/>
        </p:spPr>
        <p:txBody>
          <a:bodyPr wrap="square">
            <a:spAutoFit/>
          </a:bodyPr>
          <a:lstStyle/>
          <a:p>
            <a:pPr algn="l">
              <a:lnSpc>
                <a:spcPct val="115000"/>
              </a:lnSpc>
            </a:pPr>
            <a:r>
              <a:rPr sz="1400" b="1" i="0">
                <a:solidFill>
                  <a:srgbClr val="17324D"/>
                </a:solidFill>
                <a:latin typeface="Calibri"/>
              </a:rPr>
              <a:t>/docs</a:t>
            </a:r>
          </a:p>
        </p:txBody>
      </p:sp>
      <p:sp>
        <p:nvSpPr>
          <p:cNvPr id="24" name="TextBox 23"/>
          <p:cNvSpPr txBox="1"/>
          <p:nvPr/>
        </p:nvSpPr>
        <p:spPr>
          <a:xfrm>
            <a:off x="4937760" y="4882896"/>
            <a:ext cx="6035040" cy="320040"/>
          </a:xfrm>
          <a:prstGeom prst="rect">
            <a:avLst/>
          </a:prstGeom>
          <a:noFill/>
        </p:spPr>
        <p:txBody>
          <a:bodyPr wrap="square">
            <a:spAutoFit/>
          </a:bodyPr>
          <a:lstStyle/>
          <a:p>
            <a:pPr algn="l">
              <a:lnSpc>
                <a:spcPct val="115000"/>
              </a:lnSpc>
            </a:pPr>
            <a:r>
              <a:rPr sz="1250" b="0" i="0">
                <a:solidFill>
                  <a:srgbClr val="5C6F82"/>
                </a:solidFill>
                <a:latin typeface="Calibri"/>
              </a:rPr>
              <a:t>generated from the schemas</a:t>
            </a:r>
          </a:p>
        </p:txBody>
      </p:sp>
      <p:sp>
        <p:nvSpPr>
          <p:cNvPr id="25" name="TextBox 24"/>
          <p:cNvSpPr txBox="1"/>
          <p:nvPr/>
        </p:nvSpPr>
        <p:spPr>
          <a:xfrm>
            <a:off x="777240" y="5623560"/>
            <a:ext cx="10424160" cy="548640"/>
          </a:xfrm>
          <a:prstGeom prst="rect">
            <a:avLst/>
          </a:prstGeom>
          <a:noFill/>
        </p:spPr>
        <p:txBody>
          <a:bodyPr wrap="square">
            <a:spAutoFit/>
          </a:bodyPr>
          <a:lstStyle/>
          <a:p>
            <a:pPr algn="l">
              <a:lnSpc>
                <a:spcPct val="115000"/>
              </a:lnSpc>
            </a:pPr>
            <a:r>
              <a:rPr sz="1200" b="0" i="1">
                <a:solidFill>
                  <a:srgbClr val="5C6F82"/>
                </a:solidFill>
                <a:latin typeface="Calibri"/>
              </a:rPr>
              <a:t>Health reports whether the model object exists — a container whose model failed to load should not answer 200.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23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84048"/>
            <a:ext cx="10607040" cy="274320"/>
          </a:xfrm>
          <a:prstGeom prst="rect">
            <a:avLst/>
          </a:prstGeom>
          <a:noFill/>
        </p:spPr>
        <p:txBody>
          <a:bodyPr wrap="square">
            <a:spAutoFit/>
          </a:bodyPr>
          <a:lstStyle/>
          <a:p>
            <a:pPr algn="l">
              <a:lnSpc>
                <a:spcPct val="115000"/>
              </a:lnSpc>
            </a:pPr>
            <a:r>
              <a:rPr sz="1100" b="1" i="0">
                <a:solidFill>
                  <a:srgbClr val="237A7A"/>
                </a:solidFill>
                <a:latin typeface="Calibri"/>
              </a:rPr>
              <a:t>EXPLAINABILITY</a:t>
            </a:r>
          </a:p>
        </p:txBody>
      </p:sp>
      <p:sp>
        <p:nvSpPr>
          <p:cNvPr id="4" name="TextBox 3"/>
          <p:cNvSpPr txBox="1"/>
          <p:nvPr/>
        </p:nvSpPr>
        <p:spPr>
          <a:xfrm>
            <a:off x="777240" y="658368"/>
            <a:ext cx="10607040" cy="822960"/>
          </a:xfrm>
          <a:prstGeom prst="rect">
            <a:avLst/>
          </a:prstGeom>
          <a:noFill/>
        </p:spPr>
        <p:txBody>
          <a:bodyPr wrap="square">
            <a:spAutoFit/>
          </a:bodyPr>
          <a:lstStyle/>
          <a:p>
            <a:pPr algn="l">
              <a:lnSpc>
                <a:spcPct val="115000"/>
              </a:lnSpc>
            </a:pPr>
            <a:r>
              <a:rPr sz="3000" b="1" i="0">
                <a:solidFill>
                  <a:srgbClr val="17324D"/>
                </a:solidFill>
                <a:latin typeface="Calibri"/>
              </a:rPr>
              <a:t>Every prediction can be justified</a:t>
            </a:r>
          </a:p>
        </p:txBody>
      </p:sp>
      <p:sp>
        <p:nvSpPr>
          <p:cNvPr id="5" name="Rectangle 4"/>
          <p:cNvSpPr/>
          <p:nvPr/>
        </p:nvSpPr>
        <p:spPr>
          <a:xfrm>
            <a:off x="795528" y="1481328"/>
            <a:ext cx="1005840" cy="41148"/>
          </a:xfrm>
          <a:prstGeom prst="rect">
            <a:avLst/>
          </a:prstGeom>
          <a:solidFill>
            <a:srgbClr val="C46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19088"/>
            <a:ext cx="10607040" cy="274320"/>
          </a:xfrm>
          <a:prstGeom prst="rect">
            <a:avLst/>
          </a:prstGeom>
          <a:noFill/>
        </p:spPr>
        <p:txBody>
          <a:bodyPr wrap="none">
            <a:spAutoFit/>
          </a:bodyPr>
          <a:lstStyle/>
          <a:p>
            <a:r>
              <a:rPr sz="900">
                <a:solidFill>
                  <a:srgbClr val="5C6F82"/>
                </a:solidFill>
              </a:rPr>
              <a:t>Peram Dhanam Srinivas   ·   Week 4 Capstone   ·   AI Project Deployment</a:t>
            </a:r>
          </a:p>
        </p:txBody>
      </p:sp>
      <p:pic>
        <p:nvPicPr>
          <p:cNvPr id="7" name="Picture 6" descr="08_explanation_example.png"/>
          <p:cNvPicPr>
            <a:picLocks noChangeAspect="1"/>
          </p:cNvPicPr>
          <p:nvPr/>
        </p:nvPicPr>
        <p:blipFill>
          <a:blip r:embed="rId2"/>
          <a:stretch>
            <a:fillRect/>
          </a:stretch>
        </p:blipFill>
        <p:spPr>
          <a:xfrm>
            <a:off x="640080" y="1674379"/>
            <a:ext cx="7680960" cy="3966441"/>
          </a:xfrm>
          <a:prstGeom prst="rect">
            <a:avLst/>
          </a:prstGeom>
        </p:spPr>
      </p:pic>
      <p:sp>
        <p:nvSpPr>
          <p:cNvPr id="8" name="TextBox 7"/>
          <p:cNvSpPr txBox="1"/>
          <p:nvPr/>
        </p:nvSpPr>
        <p:spPr>
          <a:xfrm>
            <a:off x="8503920" y="2011680"/>
            <a:ext cx="3200400" cy="3474720"/>
          </a:xfrm>
          <a:prstGeom prst="rect">
            <a:avLst/>
          </a:prstGeom>
          <a:noFill/>
        </p:spPr>
        <p:txBody>
          <a:bodyPr wrap="square">
            <a:spAutoFit/>
          </a:bodyPr>
          <a:lstStyle/>
          <a:p>
            <a:pPr>
              <a:lnSpc>
                <a:spcPct val="112000"/>
              </a:lnSpc>
              <a:spcAft>
                <a:spcPts val="1200"/>
              </a:spcAft>
            </a:pPr>
            <a:r>
              <a:rPr sz="1400">
                <a:solidFill>
                  <a:srgbClr val="17324D"/>
                </a:solidFill>
                <a:latin typeface="Calibri"/>
              </a:rPr>
              <a:t>•  Exact, not approximated</a:t>
            </a:r>
          </a:p>
          <a:p>
            <a:pPr>
              <a:lnSpc>
                <a:spcPct val="112000"/>
              </a:lnSpc>
              <a:spcAft>
                <a:spcPts val="1200"/>
              </a:spcAft>
            </a:pPr>
            <a:r>
              <a:rPr sz="1400">
                <a:solidFill>
                  <a:srgbClr val="17324D"/>
                </a:solidFill>
                <a:latin typeface="Calibri"/>
              </a:rPr>
              <a:t>•  Adds to the log-odds</a:t>
            </a:r>
          </a:p>
          <a:p>
            <a:pPr>
              <a:lnSpc>
                <a:spcPct val="112000"/>
              </a:lnSpc>
              <a:spcAft>
                <a:spcPts val="1200"/>
              </a:spcAft>
            </a:pPr>
            <a:r>
              <a:rPr sz="1400">
                <a:solidFill>
                  <a:srgbClr val="17324D"/>
                </a:solidFill>
                <a:latin typeface="Calibri"/>
              </a:rPr>
              <a:t>•  The arithmetic checks out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23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84048"/>
            <a:ext cx="10607040" cy="274320"/>
          </a:xfrm>
          <a:prstGeom prst="rect">
            <a:avLst/>
          </a:prstGeom>
          <a:noFill/>
        </p:spPr>
        <p:txBody>
          <a:bodyPr wrap="square">
            <a:spAutoFit/>
          </a:bodyPr>
          <a:lstStyle/>
          <a:p>
            <a:pPr algn="l">
              <a:lnSpc>
                <a:spcPct val="115000"/>
              </a:lnSpc>
            </a:pPr>
            <a:r>
              <a:rPr sz="1100" b="1" i="0">
                <a:solidFill>
                  <a:srgbClr val="237A7A"/>
                </a:solidFill>
                <a:latin typeface="Calibri"/>
              </a:rPr>
              <a:t>PERFORMANCE</a:t>
            </a:r>
          </a:p>
        </p:txBody>
      </p:sp>
      <p:sp>
        <p:nvSpPr>
          <p:cNvPr id="4" name="TextBox 3"/>
          <p:cNvSpPr txBox="1"/>
          <p:nvPr/>
        </p:nvSpPr>
        <p:spPr>
          <a:xfrm>
            <a:off x="777240" y="658368"/>
            <a:ext cx="10607040" cy="822960"/>
          </a:xfrm>
          <a:prstGeom prst="rect">
            <a:avLst/>
          </a:prstGeom>
          <a:noFill/>
        </p:spPr>
        <p:txBody>
          <a:bodyPr wrap="square">
            <a:spAutoFit/>
          </a:bodyPr>
          <a:lstStyle/>
          <a:p>
            <a:pPr algn="l">
              <a:lnSpc>
                <a:spcPct val="115000"/>
              </a:lnSpc>
            </a:pPr>
            <a:r>
              <a:rPr sz="3000" b="1" i="0">
                <a:solidFill>
                  <a:srgbClr val="17324D"/>
                </a:solidFill>
                <a:latin typeface="Calibri"/>
              </a:rPr>
              <a:t>Where 13.3 milliseconds actually goes</a:t>
            </a:r>
          </a:p>
        </p:txBody>
      </p:sp>
      <p:sp>
        <p:nvSpPr>
          <p:cNvPr id="5" name="Rectangle 4"/>
          <p:cNvSpPr/>
          <p:nvPr/>
        </p:nvSpPr>
        <p:spPr>
          <a:xfrm>
            <a:off x="795528" y="1481328"/>
            <a:ext cx="1005840" cy="41148"/>
          </a:xfrm>
          <a:prstGeom prst="rect">
            <a:avLst/>
          </a:prstGeom>
          <a:solidFill>
            <a:srgbClr val="C46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19088"/>
            <a:ext cx="10607040" cy="274320"/>
          </a:xfrm>
          <a:prstGeom prst="rect">
            <a:avLst/>
          </a:prstGeom>
          <a:noFill/>
        </p:spPr>
        <p:txBody>
          <a:bodyPr wrap="none">
            <a:spAutoFit/>
          </a:bodyPr>
          <a:lstStyle/>
          <a:p>
            <a:r>
              <a:rPr sz="900">
                <a:solidFill>
                  <a:srgbClr val="5C6F82"/>
                </a:solidFill>
              </a:rPr>
              <a:t>Peram Dhanam Srinivas   ·   Week 4 Capstone   ·   AI Project Deployment</a:t>
            </a:r>
          </a:p>
        </p:txBody>
      </p:sp>
      <p:pic>
        <p:nvPicPr>
          <p:cNvPr id="7" name="Picture 6" descr="01_latency_budget.png"/>
          <p:cNvPicPr>
            <a:picLocks noChangeAspect="1"/>
          </p:cNvPicPr>
          <p:nvPr/>
        </p:nvPicPr>
        <p:blipFill>
          <a:blip r:embed="rId2"/>
          <a:stretch>
            <a:fillRect/>
          </a:stretch>
        </p:blipFill>
        <p:spPr>
          <a:xfrm>
            <a:off x="871476" y="1783080"/>
            <a:ext cx="10418567" cy="2377440"/>
          </a:xfrm>
          <a:prstGeom prst="rect">
            <a:avLst/>
          </a:prstGeom>
        </p:spPr>
      </p:pic>
      <p:sp>
        <p:nvSpPr>
          <p:cNvPr id="8" name="TextBox 7"/>
          <p:cNvSpPr txBox="1"/>
          <p:nvPr/>
        </p:nvSpPr>
        <p:spPr>
          <a:xfrm>
            <a:off x="777240" y="4434840"/>
            <a:ext cx="10607040" cy="1645920"/>
          </a:xfrm>
          <a:prstGeom prst="rect">
            <a:avLst/>
          </a:prstGeom>
          <a:noFill/>
        </p:spPr>
        <p:txBody>
          <a:bodyPr wrap="square">
            <a:spAutoFit/>
          </a:bodyPr>
          <a:lstStyle/>
          <a:p>
            <a:pPr>
              <a:lnSpc>
                <a:spcPct val="112000"/>
              </a:lnSpc>
              <a:spcAft>
                <a:spcPts val="1200"/>
              </a:spcAft>
            </a:pPr>
            <a:r>
              <a:rPr sz="1500" b="1">
                <a:solidFill>
                  <a:srgbClr val="237A7A"/>
                </a:solidFill>
                <a:latin typeface="Calibri"/>
              </a:rPr>
              <a:t>Model is 35%.  </a:t>
            </a:r>
            <a:r>
              <a:rPr sz="1500">
                <a:solidFill>
                  <a:srgbClr val="17324D"/>
                </a:solidFill>
                <a:latin typeface="Calibri"/>
              </a:rPr>
              <a:t>Optimising it further would be invisible to the user.</a:t>
            </a:r>
          </a:p>
          <a:p>
            <a:pPr>
              <a:lnSpc>
                <a:spcPct val="112000"/>
              </a:lnSpc>
              <a:spcAft>
                <a:spcPts val="1200"/>
              </a:spcAft>
            </a:pPr>
            <a:r>
              <a:rPr sz="1500" b="1">
                <a:solidFill>
                  <a:srgbClr val="237A7A"/>
                </a:solidFill>
                <a:latin typeface="Calibri"/>
              </a:rPr>
              <a:t>Explanation is 43%.  </a:t>
            </a:r>
            <a:r>
              <a:rPr sz="1500">
                <a:solidFill>
                  <a:srgbClr val="17324D"/>
                </a:solidFill>
                <a:latin typeface="Calibri"/>
              </a:rPr>
              <a:t>The largest cost — so it is optional, not mandatory.</a:t>
            </a:r>
          </a:p>
          <a:p>
            <a:pPr>
              <a:lnSpc>
                <a:spcPct val="112000"/>
              </a:lnSpc>
              <a:spcAft>
                <a:spcPts val="1200"/>
              </a:spcAft>
            </a:pPr>
            <a:r>
              <a:rPr sz="1500" b="1">
                <a:solidFill>
                  <a:srgbClr val="237A7A"/>
                </a:solidFill>
                <a:latin typeface="Calibri"/>
              </a:rPr>
              <a:t>HTTP is 23%.  </a:t>
            </a:r>
            <a:r>
              <a:rPr sz="1500">
                <a:solidFill>
                  <a:srgbClr val="17324D"/>
                </a:solidFill>
                <a:latin typeface="Calibri"/>
              </a:rPr>
              <a:t>A floor that no model change can go below.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23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84048"/>
            <a:ext cx="10607040" cy="274320"/>
          </a:xfrm>
          <a:prstGeom prst="rect">
            <a:avLst/>
          </a:prstGeom>
          <a:noFill/>
        </p:spPr>
        <p:txBody>
          <a:bodyPr wrap="square">
            <a:spAutoFit/>
          </a:bodyPr>
          <a:lstStyle/>
          <a:p>
            <a:pPr algn="l">
              <a:lnSpc>
                <a:spcPct val="115000"/>
              </a:lnSpc>
            </a:pPr>
            <a:r>
              <a:rPr sz="1100" b="1" i="0">
                <a:solidFill>
                  <a:srgbClr val="237A7A"/>
                </a:solidFill>
                <a:latin typeface="Calibri"/>
              </a:rPr>
              <a:t>PERFORMANCE</a:t>
            </a:r>
          </a:p>
        </p:txBody>
      </p:sp>
      <p:sp>
        <p:nvSpPr>
          <p:cNvPr id="4" name="TextBox 3"/>
          <p:cNvSpPr txBox="1"/>
          <p:nvPr/>
        </p:nvSpPr>
        <p:spPr>
          <a:xfrm>
            <a:off x="777240" y="658368"/>
            <a:ext cx="10607040" cy="822960"/>
          </a:xfrm>
          <a:prstGeom prst="rect">
            <a:avLst/>
          </a:prstGeom>
          <a:noFill/>
        </p:spPr>
        <p:txBody>
          <a:bodyPr wrap="square">
            <a:spAutoFit/>
          </a:bodyPr>
          <a:lstStyle/>
          <a:p>
            <a:pPr algn="l">
              <a:lnSpc>
                <a:spcPct val="115000"/>
              </a:lnSpc>
            </a:pPr>
            <a:r>
              <a:rPr sz="3000" b="1" i="0">
                <a:solidFill>
                  <a:srgbClr val="17324D"/>
                </a:solidFill>
                <a:latin typeface="Calibri"/>
              </a:rPr>
              <a:t>A defect only a benchmark could find</a:t>
            </a:r>
          </a:p>
        </p:txBody>
      </p:sp>
      <p:sp>
        <p:nvSpPr>
          <p:cNvPr id="5" name="Rectangle 4"/>
          <p:cNvSpPr/>
          <p:nvPr/>
        </p:nvSpPr>
        <p:spPr>
          <a:xfrm>
            <a:off x="795528" y="1481328"/>
            <a:ext cx="1005840" cy="41148"/>
          </a:xfrm>
          <a:prstGeom prst="rect">
            <a:avLst/>
          </a:prstGeom>
          <a:solidFill>
            <a:srgbClr val="C46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19088"/>
            <a:ext cx="10607040" cy="274320"/>
          </a:xfrm>
          <a:prstGeom prst="rect">
            <a:avLst/>
          </a:prstGeom>
          <a:noFill/>
        </p:spPr>
        <p:txBody>
          <a:bodyPr wrap="none">
            <a:spAutoFit/>
          </a:bodyPr>
          <a:lstStyle/>
          <a:p>
            <a:r>
              <a:rPr sz="900">
                <a:solidFill>
                  <a:srgbClr val="5C6F82"/>
                </a:solidFill>
              </a:rPr>
              <a:t>Peram Dhanam Srinivas   ·   Week 4 Capstone   ·   AI Project Deployment</a:t>
            </a:r>
          </a:p>
        </p:txBody>
      </p:sp>
      <p:pic>
        <p:nvPicPr>
          <p:cNvPr id="7" name="Picture 6" descr="03_throughput.png"/>
          <p:cNvPicPr>
            <a:picLocks noChangeAspect="1"/>
          </p:cNvPicPr>
          <p:nvPr/>
        </p:nvPicPr>
        <p:blipFill>
          <a:blip r:embed="rId2"/>
          <a:stretch>
            <a:fillRect/>
          </a:stretch>
        </p:blipFill>
        <p:spPr>
          <a:xfrm>
            <a:off x="640080" y="1895130"/>
            <a:ext cx="6949440" cy="3433499"/>
          </a:xfrm>
          <a:prstGeom prst="rect">
            <a:avLst/>
          </a:prstGeom>
        </p:spPr>
      </p:pic>
      <p:sp>
        <p:nvSpPr>
          <p:cNvPr id="8" name="TextBox 7"/>
          <p:cNvSpPr txBox="1"/>
          <p:nvPr/>
        </p:nvSpPr>
        <p:spPr>
          <a:xfrm>
            <a:off x="7818120" y="1965960"/>
            <a:ext cx="3931920" cy="3657600"/>
          </a:xfrm>
          <a:prstGeom prst="rect">
            <a:avLst/>
          </a:prstGeom>
          <a:noFill/>
        </p:spPr>
        <p:txBody>
          <a:bodyPr wrap="square">
            <a:spAutoFit/>
          </a:bodyPr>
          <a:lstStyle/>
          <a:p>
            <a:pPr>
              <a:lnSpc>
                <a:spcPct val="112000"/>
              </a:lnSpc>
              <a:spcAft>
                <a:spcPts val="1200"/>
              </a:spcAft>
            </a:pPr>
            <a:r>
              <a:rPr sz="1400" b="1">
                <a:solidFill>
                  <a:srgbClr val="237A7A"/>
                </a:solidFill>
                <a:latin typeface="Calibri"/>
              </a:rPr>
              <a:t>92 rows/s  </a:t>
            </a:r>
            <a:r>
              <a:rPr sz="1400">
                <a:solidFill>
                  <a:srgbClr val="17324D"/>
                </a:solidFill>
                <a:latin typeface="Calibri"/>
              </a:rPr>
              <a:t>first implementation, all 18 tests green</a:t>
            </a:r>
          </a:p>
          <a:p>
            <a:pPr>
              <a:lnSpc>
                <a:spcPct val="112000"/>
              </a:lnSpc>
              <a:spcAft>
                <a:spcPts val="1200"/>
              </a:spcAft>
            </a:pPr>
            <a:r>
              <a:rPr sz="1400" b="1">
                <a:solidFill>
                  <a:srgbClr val="237A7A"/>
                </a:solidFill>
                <a:latin typeface="Calibri"/>
              </a:rPr>
              <a:t>10,786 rows/s  </a:t>
            </a:r>
            <a:r>
              <a:rPr sz="1400">
                <a:solidFill>
                  <a:srgbClr val="17324D"/>
                </a:solidFill>
                <a:latin typeface="Calibri"/>
              </a:rPr>
              <a:t>after vectorising one call</a:t>
            </a:r>
          </a:p>
          <a:p>
            <a:pPr>
              <a:lnSpc>
                <a:spcPct val="112000"/>
              </a:lnSpc>
              <a:spcAft>
                <a:spcPts val="1200"/>
              </a:spcAft>
            </a:pPr>
            <a:r>
              <a:rPr sz="1400" b="1">
                <a:solidFill>
                  <a:srgbClr val="237A7A"/>
                </a:solidFill>
                <a:latin typeface="Calibri"/>
              </a:rPr>
              <a:t>3 lines  </a:t>
            </a:r>
            <a:r>
              <a:rPr sz="1400">
                <a:solidFill>
                  <a:srgbClr val="17324D"/>
                </a:solidFill>
                <a:latin typeface="Calibri"/>
              </a:rPr>
              <a:t>to remove a per-row pandas frame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23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84048"/>
            <a:ext cx="10607040" cy="274320"/>
          </a:xfrm>
          <a:prstGeom prst="rect">
            <a:avLst/>
          </a:prstGeom>
          <a:noFill/>
        </p:spPr>
        <p:txBody>
          <a:bodyPr wrap="square">
            <a:spAutoFit/>
          </a:bodyPr>
          <a:lstStyle/>
          <a:p>
            <a:pPr algn="l">
              <a:lnSpc>
                <a:spcPct val="115000"/>
              </a:lnSpc>
            </a:pPr>
            <a:r>
              <a:rPr sz="1100" b="1" i="0">
                <a:solidFill>
                  <a:srgbClr val="237A7A"/>
                </a:solidFill>
                <a:latin typeface="Calibri"/>
              </a:rPr>
              <a:t>MODEL QUALITY</a:t>
            </a:r>
          </a:p>
        </p:txBody>
      </p:sp>
      <p:sp>
        <p:nvSpPr>
          <p:cNvPr id="4" name="TextBox 3"/>
          <p:cNvSpPr txBox="1"/>
          <p:nvPr/>
        </p:nvSpPr>
        <p:spPr>
          <a:xfrm>
            <a:off x="777240" y="658368"/>
            <a:ext cx="10607040" cy="822960"/>
          </a:xfrm>
          <a:prstGeom prst="rect">
            <a:avLst/>
          </a:prstGeom>
          <a:noFill/>
        </p:spPr>
        <p:txBody>
          <a:bodyPr wrap="square">
            <a:spAutoFit/>
          </a:bodyPr>
          <a:lstStyle/>
          <a:p>
            <a:pPr algn="l">
              <a:lnSpc>
                <a:spcPct val="115000"/>
              </a:lnSpc>
            </a:pPr>
            <a:r>
              <a:rPr sz="3000" b="1" i="0">
                <a:solidFill>
                  <a:srgbClr val="17324D"/>
                </a:solidFill>
                <a:latin typeface="Calibri"/>
              </a:rPr>
              <a:t>How good is it, really?</a:t>
            </a:r>
          </a:p>
        </p:txBody>
      </p:sp>
      <p:sp>
        <p:nvSpPr>
          <p:cNvPr id="5" name="Rectangle 4"/>
          <p:cNvSpPr/>
          <p:nvPr/>
        </p:nvSpPr>
        <p:spPr>
          <a:xfrm>
            <a:off x="795528" y="1481328"/>
            <a:ext cx="1005840" cy="41148"/>
          </a:xfrm>
          <a:prstGeom prst="rect">
            <a:avLst/>
          </a:prstGeom>
          <a:solidFill>
            <a:srgbClr val="C46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19088"/>
            <a:ext cx="10607040" cy="274320"/>
          </a:xfrm>
          <a:prstGeom prst="rect">
            <a:avLst/>
          </a:prstGeom>
          <a:noFill/>
        </p:spPr>
        <p:txBody>
          <a:bodyPr wrap="none">
            <a:spAutoFit/>
          </a:bodyPr>
          <a:lstStyle/>
          <a:p>
            <a:r>
              <a:rPr sz="900">
                <a:solidFill>
                  <a:srgbClr val="5C6F82"/>
                </a:solidFill>
              </a:rPr>
              <a:t>Peram Dhanam Srinivas   ·   Week 4 Capstone   ·   AI Project Deployment</a:t>
            </a:r>
          </a:p>
        </p:txBody>
      </p:sp>
      <p:pic>
        <p:nvPicPr>
          <p:cNvPr id="7" name="Picture 6" descr="04_confusion_matrix.png"/>
          <p:cNvPicPr>
            <a:picLocks noChangeAspect="1"/>
          </p:cNvPicPr>
          <p:nvPr/>
        </p:nvPicPr>
        <p:blipFill>
          <a:blip r:embed="rId2"/>
          <a:stretch>
            <a:fillRect/>
          </a:stretch>
        </p:blipFill>
        <p:spPr>
          <a:xfrm>
            <a:off x="1058043" y="1600200"/>
            <a:ext cx="4284714" cy="4206240"/>
          </a:xfrm>
          <a:prstGeom prst="rect">
            <a:avLst/>
          </a:prstGeom>
        </p:spPr>
      </p:pic>
      <p:sp>
        <p:nvSpPr>
          <p:cNvPr id="8" name="TextBox 7"/>
          <p:cNvSpPr txBox="1"/>
          <p:nvPr/>
        </p:nvSpPr>
        <p:spPr>
          <a:xfrm>
            <a:off x="6035040" y="2011680"/>
            <a:ext cx="5486400" cy="3657600"/>
          </a:xfrm>
          <a:prstGeom prst="rect">
            <a:avLst/>
          </a:prstGeom>
          <a:noFill/>
        </p:spPr>
        <p:txBody>
          <a:bodyPr wrap="square">
            <a:spAutoFit/>
          </a:bodyPr>
          <a:lstStyle/>
          <a:p>
            <a:pPr>
              <a:lnSpc>
                <a:spcPct val="112000"/>
              </a:lnSpc>
              <a:spcAft>
                <a:spcPts val="1200"/>
              </a:spcAft>
            </a:pPr>
            <a:r>
              <a:rPr sz="1500" b="1">
                <a:solidFill>
                  <a:srgbClr val="237A7A"/>
                </a:solidFill>
                <a:latin typeface="Calibri"/>
              </a:rPr>
              <a:t>181 + 63 correct  </a:t>
            </a:r>
            <a:r>
              <a:rPr sz="1500">
                <a:solidFill>
                  <a:srgbClr val="17324D"/>
                </a:solidFill>
                <a:latin typeface="Calibri"/>
              </a:rPr>
              <a:t>of 360 held-out rows</a:t>
            </a:r>
          </a:p>
          <a:p>
            <a:pPr>
              <a:lnSpc>
                <a:spcPct val="112000"/>
              </a:lnSpc>
              <a:spcAft>
                <a:spcPts val="1200"/>
              </a:spcAft>
            </a:pPr>
            <a:r>
              <a:rPr sz="1500" b="1">
                <a:solidFill>
                  <a:srgbClr val="237A7A"/>
                </a:solidFill>
                <a:latin typeface="Calibri"/>
              </a:rPr>
              <a:t>83 false alarms  </a:t>
            </a:r>
            <a:r>
              <a:rPr sz="1500">
                <a:solidFill>
                  <a:srgbClr val="17324D"/>
                </a:solidFill>
                <a:latin typeface="Calibri"/>
              </a:rPr>
              <a:t>a wasted retention offer</a:t>
            </a:r>
          </a:p>
          <a:p>
            <a:pPr>
              <a:lnSpc>
                <a:spcPct val="112000"/>
              </a:lnSpc>
              <a:spcAft>
                <a:spcPts val="1200"/>
              </a:spcAft>
            </a:pPr>
            <a:r>
              <a:rPr sz="1500" b="1">
                <a:solidFill>
                  <a:srgbClr val="237A7A"/>
                </a:solidFill>
                <a:latin typeface="Calibri"/>
              </a:rPr>
              <a:t>33 missed churners  </a:t>
            </a:r>
            <a:r>
              <a:rPr sz="1500">
                <a:solidFill>
                  <a:srgbClr val="17324D"/>
                </a:solidFill>
                <a:latin typeface="Calibri"/>
              </a:rPr>
              <a:t>a lost customer — far more expensive</a:t>
            </a:r>
          </a:p>
          <a:p>
            <a:pPr>
              <a:lnSpc>
                <a:spcPct val="112000"/>
              </a:lnSpc>
              <a:spcAft>
                <a:spcPts val="1200"/>
              </a:spcAft>
            </a:pPr>
            <a:r>
              <a:rPr sz="1500" b="1">
                <a:solidFill>
                  <a:srgbClr val="237A7A"/>
                </a:solidFill>
                <a:latin typeface="Calibri"/>
              </a:rPr>
              <a:t>0.768 ROC-AUC  </a:t>
            </a:r>
            <a:r>
              <a:rPr sz="1500">
                <a:solidFill>
                  <a:srgbClr val="17324D"/>
                </a:solidFill>
                <a:latin typeface="Calibri"/>
              </a:rPr>
              <a:t>useful for ranking, not for automating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23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84048"/>
            <a:ext cx="10607040" cy="274320"/>
          </a:xfrm>
          <a:prstGeom prst="rect">
            <a:avLst/>
          </a:prstGeom>
          <a:noFill/>
        </p:spPr>
        <p:txBody>
          <a:bodyPr wrap="square">
            <a:spAutoFit/>
          </a:bodyPr>
          <a:lstStyle/>
          <a:p>
            <a:pPr algn="l">
              <a:lnSpc>
                <a:spcPct val="115000"/>
              </a:lnSpc>
            </a:pPr>
            <a:r>
              <a:rPr sz="1100" b="1" i="0">
                <a:solidFill>
                  <a:srgbClr val="237A7A"/>
                </a:solidFill>
                <a:latin typeface="Calibri"/>
              </a:rPr>
              <a:t>OPERATING POINT</a:t>
            </a:r>
          </a:p>
        </p:txBody>
      </p:sp>
      <p:sp>
        <p:nvSpPr>
          <p:cNvPr id="4" name="TextBox 3"/>
          <p:cNvSpPr txBox="1"/>
          <p:nvPr/>
        </p:nvSpPr>
        <p:spPr>
          <a:xfrm>
            <a:off x="777240" y="658368"/>
            <a:ext cx="10607040" cy="822960"/>
          </a:xfrm>
          <a:prstGeom prst="rect">
            <a:avLst/>
          </a:prstGeom>
          <a:noFill/>
        </p:spPr>
        <p:txBody>
          <a:bodyPr wrap="square">
            <a:spAutoFit/>
          </a:bodyPr>
          <a:lstStyle/>
          <a:p>
            <a:pPr algn="l">
              <a:lnSpc>
                <a:spcPct val="115000"/>
              </a:lnSpc>
            </a:pPr>
            <a:r>
              <a:rPr sz="3000" b="1" i="0">
                <a:solidFill>
                  <a:srgbClr val="17324D"/>
                </a:solidFill>
                <a:latin typeface="Calibri"/>
              </a:rPr>
              <a:t>The threshold is a business decision</a:t>
            </a:r>
          </a:p>
        </p:txBody>
      </p:sp>
      <p:sp>
        <p:nvSpPr>
          <p:cNvPr id="5" name="Rectangle 4"/>
          <p:cNvSpPr/>
          <p:nvPr/>
        </p:nvSpPr>
        <p:spPr>
          <a:xfrm>
            <a:off x="795528" y="1481328"/>
            <a:ext cx="1005840" cy="41148"/>
          </a:xfrm>
          <a:prstGeom prst="rect">
            <a:avLst/>
          </a:prstGeom>
          <a:solidFill>
            <a:srgbClr val="C46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19088"/>
            <a:ext cx="10607040" cy="274320"/>
          </a:xfrm>
          <a:prstGeom prst="rect">
            <a:avLst/>
          </a:prstGeom>
          <a:noFill/>
        </p:spPr>
        <p:txBody>
          <a:bodyPr wrap="none">
            <a:spAutoFit/>
          </a:bodyPr>
          <a:lstStyle/>
          <a:p>
            <a:r>
              <a:rPr sz="900">
                <a:solidFill>
                  <a:srgbClr val="5C6F82"/>
                </a:solidFill>
              </a:rPr>
              <a:t>Peram Dhanam Srinivas   ·   Week 4 Capstone   ·   AI Project Deployment</a:t>
            </a:r>
          </a:p>
        </p:txBody>
      </p:sp>
      <p:pic>
        <p:nvPicPr>
          <p:cNvPr id="7" name="Picture 6" descr="06_threshold_tradeoff.png"/>
          <p:cNvPicPr>
            <a:picLocks noChangeAspect="1"/>
          </p:cNvPicPr>
          <p:nvPr/>
        </p:nvPicPr>
        <p:blipFill>
          <a:blip r:embed="rId2"/>
          <a:stretch>
            <a:fillRect/>
          </a:stretch>
        </p:blipFill>
        <p:spPr>
          <a:xfrm>
            <a:off x="640080" y="1810135"/>
            <a:ext cx="7132320" cy="3603489"/>
          </a:xfrm>
          <a:prstGeom prst="rect">
            <a:avLst/>
          </a:prstGeom>
        </p:spPr>
      </p:pic>
      <p:sp>
        <p:nvSpPr>
          <p:cNvPr id="8" name="TextBox 7"/>
          <p:cNvSpPr txBox="1"/>
          <p:nvPr/>
        </p:nvSpPr>
        <p:spPr>
          <a:xfrm>
            <a:off x="8001000" y="2011680"/>
            <a:ext cx="3749039" cy="3657600"/>
          </a:xfrm>
          <a:prstGeom prst="rect">
            <a:avLst/>
          </a:prstGeom>
          <a:noFill/>
        </p:spPr>
        <p:txBody>
          <a:bodyPr wrap="square">
            <a:spAutoFit/>
          </a:bodyPr>
          <a:lstStyle/>
          <a:p>
            <a:pPr>
              <a:lnSpc>
                <a:spcPct val="112000"/>
              </a:lnSpc>
              <a:spcAft>
                <a:spcPts val="1200"/>
              </a:spcAft>
            </a:pPr>
            <a:r>
              <a:rPr sz="1350" b="1">
                <a:solidFill>
                  <a:srgbClr val="237A7A"/>
                </a:solidFill>
                <a:latin typeface="Calibri"/>
              </a:rPr>
              <a:t>0.50 default  </a:t>
            </a:r>
            <a:r>
              <a:rPr sz="1350">
                <a:solidFill>
                  <a:srgbClr val="17324D"/>
                </a:solidFill>
                <a:latin typeface="Calibri"/>
              </a:rPr>
              <a:t>neutral, documented, echoed in every response</a:t>
            </a:r>
          </a:p>
          <a:p>
            <a:pPr>
              <a:lnSpc>
                <a:spcPct val="112000"/>
              </a:lnSpc>
              <a:spcAft>
                <a:spcPts val="1200"/>
              </a:spcAft>
            </a:pPr>
            <a:r>
              <a:rPr sz="1350" b="1">
                <a:solidFill>
                  <a:srgbClr val="237A7A"/>
                </a:solidFill>
                <a:latin typeface="Calibri"/>
              </a:rPr>
              <a:t>0.40  </a:t>
            </a:r>
            <a:r>
              <a:rPr sz="1350">
                <a:solidFill>
                  <a:srgbClr val="17324D"/>
                </a:solidFill>
                <a:latin typeface="Calibri"/>
              </a:rPr>
              <a:t>recall 0.82, precision 0.42</a:t>
            </a:r>
          </a:p>
          <a:p>
            <a:pPr>
              <a:lnSpc>
                <a:spcPct val="112000"/>
              </a:lnSpc>
              <a:spcAft>
                <a:spcPts val="1200"/>
              </a:spcAft>
            </a:pPr>
            <a:r>
              <a:rPr sz="1350" b="1">
                <a:solidFill>
                  <a:srgbClr val="237A7A"/>
                </a:solidFill>
                <a:latin typeface="Calibri"/>
              </a:rPr>
              <a:t>The API refuses  </a:t>
            </a:r>
            <a:r>
              <a:rPr sz="1350">
                <a:solidFill>
                  <a:srgbClr val="17324D"/>
                </a:solidFill>
                <a:latin typeface="Calibri"/>
              </a:rPr>
              <a:t>to pick one silently for the caller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23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84048"/>
            <a:ext cx="10607040" cy="274320"/>
          </a:xfrm>
          <a:prstGeom prst="rect">
            <a:avLst/>
          </a:prstGeom>
          <a:noFill/>
        </p:spPr>
        <p:txBody>
          <a:bodyPr wrap="square">
            <a:spAutoFit/>
          </a:bodyPr>
          <a:lstStyle/>
          <a:p>
            <a:pPr algn="l">
              <a:lnSpc>
                <a:spcPct val="115000"/>
              </a:lnSpc>
            </a:pPr>
            <a:r>
              <a:rPr sz="1100" b="1" i="0">
                <a:solidFill>
                  <a:srgbClr val="237A7A"/>
                </a:solidFill>
                <a:latin typeface="Calibri"/>
              </a:rPr>
              <a:t>ROBUSTNESS</a:t>
            </a:r>
          </a:p>
        </p:txBody>
      </p:sp>
      <p:sp>
        <p:nvSpPr>
          <p:cNvPr id="4" name="TextBox 3"/>
          <p:cNvSpPr txBox="1"/>
          <p:nvPr/>
        </p:nvSpPr>
        <p:spPr>
          <a:xfrm>
            <a:off x="777240" y="658368"/>
            <a:ext cx="10607040" cy="822960"/>
          </a:xfrm>
          <a:prstGeom prst="rect">
            <a:avLst/>
          </a:prstGeom>
          <a:noFill/>
        </p:spPr>
        <p:txBody>
          <a:bodyPr wrap="square">
            <a:spAutoFit/>
          </a:bodyPr>
          <a:lstStyle/>
          <a:p>
            <a:pPr algn="l">
              <a:lnSpc>
                <a:spcPct val="115000"/>
              </a:lnSpc>
            </a:pPr>
            <a:r>
              <a:rPr sz="3000" b="1" i="0">
                <a:solidFill>
                  <a:srgbClr val="17324D"/>
                </a:solidFill>
                <a:latin typeface="Calibri"/>
              </a:rPr>
              <a:t>Failing at the edge, not in the model</a:t>
            </a:r>
          </a:p>
        </p:txBody>
      </p:sp>
      <p:sp>
        <p:nvSpPr>
          <p:cNvPr id="5" name="Rectangle 4"/>
          <p:cNvSpPr/>
          <p:nvPr/>
        </p:nvSpPr>
        <p:spPr>
          <a:xfrm>
            <a:off x="795528" y="1481328"/>
            <a:ext cx="1005840" cy="41148"/>
          </a:xfrm>
          <a:prstGeom prst="rect">
            <a:avLst/>
          </a:prstGeom>
          <a:solidFill>
            <a:srgbClr val="C46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19088"/>
            <a:ext cx="10607040" cy="274320"/>
          </a:xfrm>
          <a:prstGeom prst="rect">
            <a:avLst/>
          </a:prstGeom>
          <a:noFill/>
        </p:spPr>
        <p:txBody>
          <a:bodyPr wrap="none">
            <a:spAutoFit/>
          </a:bodyPr>
          <a:lstStyle/>
          <a:p>
            <a:r>
              <a:rPr sz="900">
                <a:solidFill>
                  <a:srgbClr val="5C6F82"/>
                </a:solidFill>
              </a:rPr>
              <a:t>Peram Dhanam Srinivas   ·   Week 4 Capstone   ·   AI Project Deployment</a:t>
            </a:r>
          </a:p>
        </p:txBody>
      </p:sp>
      <p:pic>
        <p:nvPicPr>
          <p:cNvPr id="7" name="Picture 6" descr="09_artifacts_and_validation.png"/>
          <p:cNvPicPr>
            <a:picLocks noChangeAspect="1"/>
          </p:cNvPicPr>
          <p:nvPr/>
        </p:nvPicPr>
        <p:blipFill>
          <a:blip r:embed="rId2"/>
          <a:stretch>
            <a:fillRect/>
          </a:stretch>
        </p:blipFill>
        <p:spPr>
          <a:xfrm>
            <a:off x="548640" y="1841165"/>
            <a:ext cx="7680960" cy="3084229"/>
          </a:xfrm>
          <a:prstGeom prst="rect">
            <a:avLst/>
          </a:prstGeom>
        </p:spPr>
      </p:pic>
      <p:sp>
        <p:nvSpPr>
          <p:cNvPr id="8" name="TextBox 7"/>
          <p:cNvSpPr txBox="1"/>
          <p:nvPr/>
        </p:nvSpPr>
        <p:spPr>
          <a:xfrm>
            <a:off x="8549640" y="2011680"/>
            <a:ext cx="3200400" cy="3474720"/>
          </a:xfrm>
          <a:prstGeom prst="rect">
            <a:avLst/>
          </a:prstGeom>
          <a:noFill/>
        </p:spPr>
        <p:txBody>
          <a:bodyPr wrap="square">
            <a:spAutoFit/>
          </a:bodyPr>
          <a:lstStyle/>
          <a:p>
            <a:pPr>
              <a:lnSpc>
                <a:spcPct val="112000"/>
              </a:lnSpc>
              <a:spcAft>
                <a:spcPts val="1200"/>
              </a:spcAft>
            </a:pPr>
            <a:r>
              <a:rPr sz="1350">
                <a:solidFill>
                  <a:srgbClr val="17324D"/>
                </a:solidFill>
                <a:latin typeface="Calibri"/>
              </a:rPr>
              <a:t>•  7 validation tests</a:t>
            </a:r>
          </a:p>
          <a:p>
            <a:pPr>
              <a:lnSpc>
                <a:spcPct val="112000"/>
              </a:lnSpc>
              <a:spcAft>
                <a:spcPts val="1200"/>
              </a:spcAft>
            </a:pPr>
            <a:r>
              <a:rPr sz="1350">
                <a:solidFill>
                  <a:srgbClr val="17324D"/>
                </a:solidFill>
                <a:latin typeface="Calibri"/>
              </a:rPr>
              <a:t>•  422 with a readable message</a:t>
            </a:r>
          </a:p>
          <a:p>
            <a:pPr>
              <a:lnSpc>
                <a:spcPct val="112000"/>
              </a:lnSpc>
              <a:spcAft>
                <a:spcPts val="1200"/>
              </a:spcAft>
            </a:pPr>
            <a:r>
              <a:rPr sz="1350">
                <a:solidFill>
                  <a:srgbClr val="17324D"/>
                </a:solidFill>
                <a:latin typeface="Calibri"/>
              </a:rPr>
              <a:t>•  null total_charges accepted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23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84048"/>
            <a:ext cx="10607040" cy="274320"/>
          </a:xfrm>
          <a:prstGeom prst="rect">
            <a:avLst/>
          </a:prstGeom>
          <a:noFill/>
        </p:spPr>
        <p:txBody>
          <a:bodyPr wrap="square">
            <a:spAutoFit/>
          </a:bodyPr>
          <a:lstStyle/>
          <a:p>
            <a:pPr algn="l">
              <a:lnSpc>
                <a:spcPct val="115000"/>
              </a:lnSpc>
            </a:pPr>
            <a:r>
              <a:rPr sz="1100" b="1" i="0">
                <a:solidFill>
                  <a:srgbClr val="237A7A"/>
                </a:solidFill>
                <a:latin typeface="Calibri"/>
              </a:rPr>
              <a:t>RESPONSIBLE USE</a:t>
            </a:r>
          </a:p>
        </p:txBody>
      </p:sp>
      <p:sp>
        <p:nvSpPr>
          <p:cNvPr id="4" name="TextBox 3"/>
          <p:cNvSpPr txBox="1"/>
          <p:nvPr/>
        </p:nvSpPr>
        <p:spPr>
          <a:xfrm>
            <a:off x="777240" y="658368"/>
            <a:ext cx="10607040" cy="822960"/>
          </a:xfrm>
          <a:prstGeom prst="rect">
            <a:avLst/>
          </a:prstGeom>
          <a:noFill/>
        </p:spPr>
        <p:txBody>
          <a:bodyPr wrap="square">
            <a:spAutoFit/>
          </a:bodyPr>
          <a:lstStyle/>
          <a:p>
            <a:pPr algn="l">
              <a:lnSpc>
                <a:spcPct val="115000"/>
              </a:lnSpc>
            </a:pPr>
            <a:r>
              <a:rPr sz="3000" b="1" i="0">
                <a:solidFill>
                  <a:srgbClr val="17324D"/>
                </a:solidFill>
                <a:latin typeface="Calibri"/>
              </a:rPr>
              <a:t>What this model must not be used for</a:t>
            </a:r>
          </a:p>
        </p:txBody>
      </p:sp>
      <p:sp>
        <p:nvSpPr>
          <p:cNvPr id="5" name="Rectangle 4"/>
          <p:cNvSpPr/>
          <p:nvPr/>
        </p:nvSpPr>
        <p:spPr>
          <a:xfrm>
            <a:off x="795528" y="1481328"/>
            <a:ext cx="1005840" cy="41148"/>
          </a:xfrm>
          <a:prstGeom prst="rect">
            <a:avLst/>
          </a:prstGeom>
          <a:solidFill>
            <a:srgbClr val="C46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19088"/>
            <a:ext cx="10607040" cy="274320"/>
          </a:xfrm>
          <a:prstGeom prst="rect">
            <a:avLst/>
          </a:prstGeom>
          <a:noFill/>
        </p:spPr>
        <p:txBody>
          <a:bodyPr wrap="none">
            <a:spAutoFit/>
          </a:bodyPr>
          <a:lstStyle/>
          <a:p>
            <a:r>
              <a:rPr sz="900">
                <a:solidFill>
                  <a:srgbClr val="5C6F82"/>
                </a:solidFill>
              </a:rPr>
              <a:t>Peram Dhanam Srinivas   ·   Week 4 Capstone   ·   AI Project Deployment</a:t>
            </a:r>
          </a:p>
        </p:txBody>
      </p:sp>
      <p:sp>
        <p:nvSpPr>
          <p:cNvPr id="7" name="TextBox 6"/>
          <p:cNvSpPr txBox="1"/>
          <p:nvPr/>
        </p:nvSpPr>
        <p:spPr>
          <a:xfrm>
            <a:off x="777240" y="1828800"/>
            <a:ext cx="10424160" cy="4023360"/>
          </a:xfrm>
          <a:prstGeom prst="rect">
            <a:avLst/>
          </a:prstGeom>
          <a:noFill/>
        </p:spPr>
        <p:txBody>
          <a:bodyPr wrap="square">
            <a:spAutoFit/>
          </a:bodyPr>
          <a:lstStyle/>
          <a:p>
            <a:pPr>
              <a:lnSpc>
                <a:spcPct val="112000"/>
              </a:lnSpc>
              <a:spcAft>
                <a:spcPts val="1200"/>
              </a:spcAft>
            </a:pPr>
            <a:r>
              <a:rPr sz="1600" b="1">
                <a:solidFill>
                  <a:srgbClr val="237A7A"/>
                </a:solidFill>
                <a:latin typeface="Calibri"/>
              </a:rPr>
              <a:t>Synthetic data.  </a:t>
            </a:r>
            <a:r>
              <a:rPr sz="1600">
                <a:solidFill>
                  <a:srgbClr val="17324D"/>
                </a:solidFill>
                <a:latin typeface="Calibri"/>
              </a:rPr>
              <a:t>Every pattern is a property of the generator, not of real customers.</a:t>
            </a:r>
          </a:p>
          <a:p>
            <a:pPr>
              <a:lnSpc>
                <a:spcPct val="112000"/>
              </a:lnSpc>
              <a:spcAft>
                <a:spcPts val="1200"/>
              </a:spcAft>
            </a:pPr>
            <a:r>
              <a:rPr sz="1600" b="1">
                <a:solidFill>
                  <a:srgbClr val="237A7A"/>
                </a:solidFill>
                <a:latin typeface="Calibri"/>
              </a:rPr>
              <a:t>Not for consequential decisions.  </a:t>
            </a:r>
            <a:r>
              <a:rPr sz="1600">
                <a:solidFill>
                  <a:srgbClr val="17324D"/>
                </a:solidFill>
                <a:latin typeface="Calibri"/>
              </a:rPr>
              <a:t>No credit, pricing, insurance or hiring.</a:t>
            </a:r>
          </a:p>
          <a:p>
            <a:pPr>
              <a:lnSpc>
                <a:spcPct val="112000"/>
              </a:lnSpc>
              <a:spcAft>
                <a:spcPts val="1200"/>
              </a:spcAft>
            </a:pPr>
            <a:r>
              <a:rPr sz="1600" b="1">
                <a:solidFill>
                  <a:srgbClr val="237A7A"/>
                </a:solidFill>
                <a:latin typeface="Calibri"/>
              </a:rPr>
              <a:t>No fairness audit.  </a:t>
            </a:r>
            <a:r>
              <a:rPr sz="1600">
                <a:solidFill>
                  <a:srgbClr val="17324D"/>
                </a:solidFill>
                <a:latin typeface="Calibri"/>
              </a:rPr>
              <a:t>Error rates can differ by subgroup; that has not been measured.</a:t>
            </a:r>
          </a:p>
          <a:p>
            <a:pPr>
              <a:lnSpc>
                <a:spcPct val="112000"/>
              </a:lnSpc>
              <a:spcAft>
                <a:spcPts val="1200"/>
              </a:spcAft>
            </a:pPr>
            <a:r>
              <a:rPr sz="1600" b="1">
                <a:solidFill>
                  <a:srgbClr val="237A7A"/>
                </a:solidFill>
                <a:latin typeface="Calibri"/>
              </a:rPr>
              <a:t>No authentication.  </a:t>
            </a:r>
            <a:r>
              <a:rPr sz="1600">
                <a:solidFill>
                  <a:srgbClr val="17324D"/>
                </a:solidFill>
                <a:latin typeface="Calibri"/>
              </a:rPr>
              <a:t>A local demonstration, not a public service.</a:t>
            </a:r>
          </a:p>
          <a:p>
            <a:pPr>
              <a:lnSpc>
                <a:spcPct val="112000"/>
              </a:lnSpc>
              <a:spcAft>
                <a:spcPts val="1200"/>
              </a:spcAft>
            </a:pPr>
            <a:r>
              <a:rPr sz="1600" b="1">
                <a:solidFill>
                  <a:srgbClr val="237A7A"/>
                </a:solidFill>
                <a:latin typeface="Calibri"/>
              </a:rPr>
              <a:t>It will drift.  </a:t>
            </a:r>
            <a:r>
              <a:rPr sz="1600">
                <a:solidFill>
                  <a:srgbClr val="17324D"/>
                </a:solidFill>
                <a:latin typeface="Calibri"/>
              </a:rPr>
              <a:t>The model card records the training date for exactly this reason.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051560"/>
            <a:ext cx="10424160" cy="822960"/>
          </a:xfrm>
          <a:prstGeom prst="rect">
            <a:avLst/>
          </a:prstGeom>
          <a:noFill/>
        </p:spPr>
        <p:txBody>
          <a:bodyPr wrap="square">
            <a:spAutoFit/>
          </a:bodyPr>
          <a:lstStyle/>
          <a:p>
            <a:pPr algn="l">
              <a:lnSpc>
                <a:spcPct val="115000"/>
              </a:lnSpc>
            </a:pPr>
            <a:r>
              <a:rPr sz="3400" b="1" i="0">
                <a:solidFill>
                  <a:srgbClr val="FFFFFF"/>
                </a:solidFill>
                <a:latin typeface="Calibri"/>
              </a:rPr>
              <a:t>What I would do next</a:t>
            </a:r>
          </a:p>
        </p:txBody>
      </p:sp>
      <p:sp>
        <p:nvSpPr>
          <p:cNvPr id="4" name="TextBox 3"/>
          <p:cNvSpPr txBox="1"/>
          <p:nvPr/>
        </p:nvSpPr>
        <p:spPr>
          <a:xfrm>
            <a:off x="822960" y="2057400"/>
            <a:ext cx="10058400" cy="2377440"/>
          </a:xfrm>
          <a:prstGeom prst="rect">
            <a:avLst/>
          </a:prstGeom>
          <a:noFill/>
        </p:spPr>
        <p:txBody>
          <a:bodyPr wrap="square">
            <a:spAutoFit/>
          </a:bodyPr>
          <a:lstStyle/>
          <a:p>
            <a:pPr>
              <a:lnSpc>
                <a:spcPct val="112000"/>
              </a:lnSpc>
              <a:spcAft>
                <a:spcPts val="1200"/>
              </a:spcAft>
            </a:pPr>
            <a:r>
              <a:rPr sz="1500" b="1">
                <a:solidFill>
                  <a:srgbClr val="237A7A"/>
                </a:solidFill>
                <a:latin typeface="Calibri"/>
              </a:rPr>
              <a:t>Monitoring.  </a:t>
            </a:r>
            <a:r>
              <a:rPr sz="1500">
                <a:solidFill>
                  <a:srgbClr val="17324D"/>
                </a:solidFill>
                <a:latin typeface="Calibri"/>
              </a:rPr>
              <a:t>Log every prediction and compare the live distribution to training.</a:t>
            </a:r>
          </a:p>
          <a:p>
            <a:pPr>
              <a:lnSpc>
                <a:spcPct val="112000"/>
              </a:lnSpc>
              <a:spcAft>
                <a:spcPts val="1200"/>
              </a:spcAft>
            </a:pPr>
            <a:r>
              <a:rPr sz="1500" b="1">
                <a:solidFill>
                  <a:srgbClr val="237A7A"/>
                </a:solidFill>
                <a:latin typeface="Calibri"/>
              </a:rPr>
              <a:t>Fairness.  </a:t>
            </a:r>
            <a:r>
              <a:rPr sz="1500">
                <a:solidFill>
                  <a:srgbClr val="17324D"/>
                </a:solidFill>
                <a:latin typeface="Calibri"/>
              </a:rPr>
              <a:t>Compute the confusion matrix per subgroup before any real use.</a:t>
            </a:r>
          </a:p>
          <a:p>
            <a:pPr>
              <a:lnSpc>
                <a:spcPct val="112000"/>
              </a:lnSpc>
              <a:spcAft>
                <a:spcPts val="1200"/>
              </a:spcAft>
            </a:pPr>
            <a:r>
              <a:rPr sz="1500" b="1">
                <a:solidFill>
                  <a:srgbClr val="237A7A"/>
                </a:solidFill>
                <a:latin typeface="Calibri"/>
              </a:rPr>
              <a:t>Auth and rate limiting.  </a:t>
            </a:r>
            <a:r>
              <a:rPr sz="1500">
                <a:solidFill>
                  <a:srgbClr val="17324D"/>
                </a:solidFill>
                <a:latin typeface="Calibri"/>
              </a:rPr>
              <a:t>The two things between this and a public deployment.</a:t>
            </a:r>
          </a:p>
        </p:txBody>
      </p:sp>
      <p:sp>
        <p:nvSpPr>
          <p:cNvPr id="5" name="Rectangle 4"/>
          <p:cNvSpPr/>
          <p:nvPr/>
        </p:nvSpPr>
        <p:spPr>
          <a:xfrm>
            <a:off x="841248" y="4572000"/>
            <a:ext cx="1280160" cy="45720"/>
          </a:xfrm>
          <a:prstGeom prst="rect">
            <a:avLst/>
          </a:prstGeom>
          <a:solidFill>
            <a:srgbClr val="237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800600"/>
            <a:ext cx="10058400" cy="914400"/>
          </a:xfrm>
          <a:prstGeom prst="rect">
            <a:avLst/>
          </a:prstGeom>
          <a:noFill/>
        </p:spPr>
        <p:txBody>
          <a:bodyPr wrap="square">
            <a:spAutoFit/>
          </a:bodyPr>
          <a:lstStyle/>
          <a:p>
            <a:pPr algn="l">
              <a:lnSpc>
                <a:spcPct val="115000"/>
              </a:lnSpc>
            </a:pPr>
            <a:r>
              <a:rPr sz="2600" b="1" i="0">
                <a:solidFill>
                  <a:srgbClr val="FFFFFF"/>
                </a:solidFill>
                <a:latin typeface="Calibri"/>
              </a:rPr>
              <a:t>Thank you — questions welcome.</a:t>
            </a:r>
          </a:p>
        </p:txBody>
      </p:sp>
      <p:sp>
        <p:nvSpPr>
          <p:cNvPr id="7" name="TextBox 6"/>
          <p:cNvSpPr txBox="1"/>
          <p:nvPr/>
        </p:nvSpPr>
        <p:spPr>
          <a:xfrm>
            <a:off x="822960" y="5806440"/>
            <a:ext cx="10058400" cy="365760"/>
          </a:xfrm>
          <a:prstGeom prst="rect">
            <a:avLst/>
          </a:prstGeom>
          <a:noFill/>
        </p:spPr>
        <p:txBody>
          <a:bodyPr wrap="square">
            <a:spAutoFit/>
          </a:bodyPr>
          <a:lstStyle/>
          <a:p>
            <a:pPr algn="l">
              <a:lnSpc>
                <a:spcPct val="115000"/>
              </a:lnSpc>
            </a:pPr>
            <a:r>
              <a:rPr sz="1100" b="0" i="0">
                <a:solidFill>
                  <a:srgbClr val="A8BCCB"/>
                </a:solidFill>
                <a:latin typeface="Calibri"/>
              </a:rPr>
              <a:t>Peram Dhanam Srinivas   ·   github.com/Dhanam33/Yuva_intern/tree/main/week-4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